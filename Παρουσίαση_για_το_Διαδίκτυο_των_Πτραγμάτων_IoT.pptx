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84" r:id="rId2"/>
    <p:sldId id="263" r:id="rId3"/>
    <p:sldId id="261" r:id="rId4"/>
    <p:sldId id="262" r:id="rId5"/>
    <p:sldId id="259" r:id="rId6"/>
    <p:sldId id="264" r:id="rId7"/>
    <p:sldId id="260" r:id="rId8"/>
    <p:sldId id="266" r:id="rId9"/>
    <p:sldId id="273" r:id="rId10"/>
    <p:sldId id="274" r:id="rId11"/>
    <p:sldId id="270" r:id="rId12"/>
    <p:sldId id="265" r:id="rId13"/>
    <p:sldId id="275" r:id="rId14"/>
    <p:sldId id="276" r:id="rId15"/>
    <p:sldId id="277" r:id="rId16"/>
    <p:sldId id="278" r:id="rId17"/>
    <p:sldId id="279" r:id="rId18"/>
    <p:sldId id="267" r:id="rId19"/>
    <p:sldId id="280" r:id="rId20"/>
    <p:sldId id="268" r:id="rId21"/>
    <p:sldId id="271" r:id="rId22"/>
    <p:sldId id="281" r:id="rId23"/>
    <p:sldId id="282" r:id="rId24"/>
    <p:sldId id="283" r:id="rId25"/>
  </p:sldIdLst>
  <p:sldSz cx="12192000" cy="68580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2BCAFC7A-71DD-4C2C-B63D-60FDC7DD5449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DA6FC261-E491-4C42-A663-B95247CC46D9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D85ECAFD-F005-4163-B10D-85806DC43F93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33E963C-1534-4F8D-B2A7-66D81AA25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92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57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84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94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50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27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063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81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51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58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07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866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86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61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50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208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201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196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198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22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895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952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22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93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400" cap="small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3276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801" y="4953000"/>
            <a:ext cx="7999315" cy="1074057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0" i="0" kern="1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033" y="331651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54953" y="3848610"/>
            <a:ext cx="8825659" cy="588517"/>
          </a:xfrm>
        </p:spPr>
        <p:txBody>
          <a:bodyPr anchor="b">
            <a:normAutofit/>
          </a:bodyPr>
          <a:lstStyle>
            <a:lvl1pPr marL="0" indent="0" algn="l" defTabSz="457200" rtl="0" eaLnBrk="1" latinLnBrk="0" hangingPunct="1">
              <a:buNone/>
              <a:defRPr lang="en-US" sz="3600" b="0" i="0" kern="1200" cap="none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2"/>
          <p:cNvSpPr>
            <a:spLocks noGrp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Picture Placeholder 2"/>
          <p:cNvSpPr>
            <a:spLocks noGrp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430213"/>
            <a:ext cx="7423149" cy="5826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3" r:id="rId14"/>
    <p:sldLayoutId id="2147483665" r:id="rId15"/>
    <p:sldLayoutId id="2147483669" r:id="rId16"/>
    <p:sldLayoutId id="2147483670" r:id="rId17"/>
    <p:sldLayoutId id="2147483658" r:id="rId18"/>
    <p:sldLayoutId id="2147483659" r:id="rId19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RPANE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earcam.org/myview.html" TargetMode="External"/><Relationship Id="rId5" Type="http://schemas.openxmlformats.org/officeDocument/2006/relationships/hyperlink" Target="https://en.wikipedia.org/wiki/Steve_Mann" TargetMode="External"/><Relationship Id="rId4" Type="http://schemas.openxmlformats.org/officeDocument/2006/relationships/hyperlink" Target="https://en.wikipedia.org/wiki/World_Wide_Web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ikola_Tesl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affo.com/essays/sensors-the-next-wave-of-infotech-innovation/" TargetMode="External"/><Relationship Id="rId5" Type="http://schemas.openxmlformats.org/officeDocument/2006/relationships/hyperlink" Target="http://cogprints.org/499/1/turing.html" TargetMode="External"/><Relationship Id="rId4" Type="http://schemas.openxmlformats.org/officeDocument/2006/relationships/hyperlink" Target="https://en.wikipedia.org/wiki/Alan_Turing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eXfCNwMG64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ctrTitle"/>
          </p:nvPr>
        </p:nvSpPr>
        <p:spPr>
          <a:xfrm>
            <a:off x="1154955" y="714375"/>
            <a:ext cx="8824913" cy="4086240"/>
          </a:xfrm>
        </p:spPr>
        <p:txBody>
          <a:bodyPr/>
          <a:lstStyle/>
          <a:p>
            <a:r>
              <a:rPr lang="EN-US" sz="4800" err="1">
                <a:solidFill>
                  <a:srgbClr val="EBEBEB"/>
                </a:solidFill>
                <a:latin typeface="Century Gothic"/>
              </a:rPr>
              <a:t>IoT</a:t>
            </a:r>
            <a:br>
              <a:rPr lang="EN-US">
                <a:solidFill>
                  <a:schemeClr val="tx1"/>
                </a:solidFill>
                <a:latin typeface="Century Gothic"/>
              </a:rPr>
            </a:br>
            <a:r>
              <a:rPr lang="EN-US" sz="4800">
                <a:solidFill>
                  <a:srgbClr val="EBEBEB"/>
                </a:solidFill>
                <a:latin typeface="Century Gothic"/>
              </a:rPr>
              <a:t>Internet of Things</a:t>
            </a:r>
            <a:br>
              <a:rPr lang="EN-US" sz="4800">
                <a:solidFill>
                  <a:schemeClr val="tx1"/>
                </a:solidFill>
                <a:latin typeface="Century Gothic"/>
              </a:rPr>
            </a:br>
            <a:r>
              <a:rPr lang="EN-US" sz="4800">
                <a:solidFill>
                  <a:srgbClr val="EBEBEB"/>
                </a:solidFill>
                <a:latin typeface="Century Gothic"/>
              </a:rPr>
              <a:t>(</a:t>
            </a:r>
            <a:r>
              <a:rPr lang="EN-US" sz="4800" err="1">
                <a:solidFill>
                  <a:srgbClr val="EBEBEB"/>
                </a:solidFill>
                <a:latin typeface="Century Gothic"/>
              </a:rPr>
              <a:t>Δι</a:t>
            </a:r>
            <a:r>
              <a:rPr lang="EN-US" sz="4800">
                <a:solidFill>
                  <a:srgbClr val="EBEBEB"/>
                </a:solidFill>
                <a:latin typeface="Century Gothic"/>
              </a:rPr>
              <a:t>α</a:t>
            </a:r>
            <a:r>
              <a:rPr lang="EN-US" sz="4800" err="1">
                <a:solidFill>
                  <a:srgbClr val="EBEBEB"/>
                </a:solidFill>
                <a:latin typeface="Century Gothic"/>
              </a:rPr>
              <a:t>δίκτυο</a:t>
            </a:r>
            <a:r>
              <a:rPr lang="EN-US" sz="4800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sz="4800" err="1">
                <a:solidFill>
                  <a:srgbClr val="EBEBEB"/>
                </a:solidFill>
                <a:latin typeface="Century Gothic"/>
              </a:rPr>
              <a:t>των</a:t>
            </a:r>
            <a:r>
              <a:rPr lang="EN-US" sz="4800">
                <a:solidFill>
                  <a:srgbClr val="EBEBEB"/>
                </a:solidFill>
                <a:latin typeface="Century Gothic"/>
              </a:rPr>
              <a:t> πρα</a:t>
            </a:r>
            <a:r>
              <a:rPr lang="EN-US" sz="4800" err="1">
                <a:solidFill>
                  <a:srgbClr val="EBEBEB"/>
                </a:solidFill>
                <a:latin typeface="Century Gothic"/>
              </a:rPr>
              <a:t>γμάτων</a:t>
            </a:r>
            <a:r>
              <a:rPr lang="EN-US" sz="4800">
                <a:solidFill>
                  <a:srgbClr val="EBEBEB"/>
                </a:solidFill>
                <a:latin typeface="Century Gothic"/>
              </a:rPr>
              <a:t>)</a:t>
            </a:r>
            <a:br>
              <a:rPr lang="EN-US" sz="4800">
                <a:solidFill>
                  <a:schemeClr val="tx1"/>
                </a:solidFill>
                <a:latin typeface="Century Gothic"/>
              </a:rPr>
            </a:br>
            <a:r>
              <a:rPr lang="EN-US" sz="3200">
                <a:solidFill>
                  <a:schemeClr val="tx1"/>
                </a:solidFill>
                <a:latin typeface="Century Gothic"/>
              </a:rPr>
              <a:t>π</a:t>
            </a:r>
            <a:r>
              <a:rPr lang="EN-US" sz="3200" err="1">
                <a:solidFill>
                  <a:schemeClr val="tx1"/>
                </a:solidFill>
                <a:latin typeface="Century Gothic"/>
              </a:rPr>
              <a:t>άνω</a:t>
            </a:r>
            <a:r>
              <a:rPr lang="EN-US" sz="3200">
                <a:solidFill>
                  <a:schemeClr val="tx1"/>
                </a:solidFill>
                <a:latin typeface="Century Gothic"/>
              </a:rPr>
              <a:t> από </a:t>
            </a:r>
            <a:r>
              <a:rPr lang="EN-US" sz="3200" err="1">
                <a:solidFill>
                  <a:schemeClr val="tx1"/>
                </a:solidFill>
                <a:latin typeface="Century Gothic"/>
              </a:rPr>
              <a:t>δίκτυ</a:t>
            </a:r>
            <a:r>
              <a:rPr lang="EN-US" sz="3200">
                <a:solidFill>
                  <a:schemeClr val="tx1"/>
                </a:solidFill>
                <a:latin typeface="Century Gothic"/>
              </a:rPr>
              <a:t>α </a:t>
            </a:r>
            <a:r>
              <a:rPr lang="EN-US" sz="3200" err="1">
                <a:solidFill>
                  <a:schemeClr val="tx1"/>
                </a:solidFill>
                <a:latin typeface="Century Gothic"/>
              </a:rPr>
              <a:t>κινητών</a:t>
            </a:r>
            <a:r>
              <a:rPr lang="EN-US" sz="3200">
                <a:solidFill>
                  <a:schemeClr val="tx1"/>
                </a:solidFill>
                <a:latin typeface="Century Gothic"/>
              </a:rPr>
              <a:t> επ</a:t>
            </a:r>
            <a:r>
              <a:rPr lang="EN-US" sz="3200" err="1">
                <a:solidFill>
                  <a:schemeClr val="tx1"/>
                </a:solidFill>
                <a:latin typeface="Century Gothic"/>
              </a:rPr>
              <a:t>ικοινωνιών</a:t>
            </a:r>
            <a:r>
              <a:rPr lang="EN-US" sz="3200">
                <a:solidFill>
                  <a:schemeClr val="tx1"/>
                </a:solidFill>
                <a:latin typeface="Century Gothic"/>
              </a:rPr>
              <a:t>.</a:t>
            </a:r>
            <a:endParaRPr lang="en-US" sz="3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1154955" y="4806427"/>
            <a:ext cx="8825658" cy="861420"/>
          </a:xfrm>
        </p:spPr>
        <p:txBody>
          <a:bodyPr>
            <a:normAutofit fontScale="70000" lnSpcReduction="20000"/>
          </a:bodyPr>
          <a:lstStyle/>
          <a:p>
            <a:r>
              <a:rPr lang="EN-US" err="1">
                <a:solidFill>
                  <a:srgbClr val="8AD0D6"/>
                </a:solidFill>
                <a:latin typeface="Century Gothic"/>
              </a:rPr>
              <a:t>Νεκτ</a:t>
            </a:r>
            <a:r>
              <a:rPr lang="EN-US">
                <a:solidFill>
                  <a:srgbClr val="8AD0D6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ριοσ</a:t>
            </a:r>
            <a:r>
              <a:rPr lang="EN-US">
                <a:solidFill>
                  <a:srgbClr val="8AD0D6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δεληγι</a:t>
            </a:r>
            <a:r>
              <a:rPr lang="EN-US">
                <a:solidFill>
                  <a:srgbClr val="8AD0D6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νν</a:t>
            </a:r>
            <a:r>
              <a:rPr lang="EN-US">
                <a:solidFill>
                  <a:srgbClr val="8AD0D6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κης</a:t>
            </a:r>
            <a:r>
              <a:rPr lang="EN-US">
                <a:solidFill>
                  <a:srgbClr val="8AD0D6"/>
                </a:solidFill>
                <a:latin typeface="Century Gothic"/>
              </a:rPr>
              <a:t> 1115201200030</a:t>
            </a:r>
          </a:p>
          <a:p>
            <a:r>
              <a:rPr lang="EN-US" err="1">
                <a:solidFill>
                  <a:srgbClr val="8AD0D6"/>
                </a:solidFill>
                <a:latin typeface="Century Gothic"/>
              </a:rPr>
              <a:t>Εθνικο</a:t>
            </a:r>
            <a:r>
              <a:rPr lang="EN-US">
                <a:solidFill>
                  <a:srgbClr val="8AD0D6"/>
                </a:solidFill>
                <a:latin typeface="Century Gothic"/>
              </a:rPr>
              <a:t> και καπ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οδιστρι</a:t>
            </a:r>
            <a:r>
              <a:rPr lang="EN-US">
                <a:solidFill>
                  <a:srgbClr val="8AD0D6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κο</a:t>
            </a:r>
            <a:r>
              <a:rPr lang="EN-US">
                <a:solidFill>
                  <a:srgbClr val="8AD0D6"/>
                </a:solidFill>
                <a:latin typeface="Century Gothic"/>
              </a:rPr>
              <a:t> πα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νε</a:t>
            </a:r>
            <a:r>
              <a:rPr lang="EN-US">
                <a:solidFill>
                  <a:srgbClr val="8AD0D6"/>
                </a:solidFill>
                <a:latin typeface="Century Gothic"/>
              </a:rPr>
              <a:t>π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ιστημιο</a:t>
            </a:r>
            <a:r>
              <a:rPr lang="EN-US">
                <a:solidFill>
                  <a:srgbClr val="8AD0D6"/>
                </a:solidFill>
                <a:latin typeface="Century Gothic"/>
              </a:rPr>
              <a:t> α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θηνων</a:t>
            </a:r>
          </a:p>
          <a:p>
            <a:r>
              <a:rPr lang="EN-US" err="1">
                <a:solidFill>
                  <a:srgbClr val="8AD0D6"/>
                </a:solidFill>
                <a:latin typeface="Century Gothic"/>
              </a:rPr>
              <a:t>Κινητες</a:t>
            </a:r>
            <a:r>
              <a:rPr lang="EN-US">
                <a:solidFill>
                  <a:srgbClr val="8AD0D6"/>
                </a:solidFill>
                <a:latin typeface="Century Gothic"/>
              </a:rPr>
              <a:t> και π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ροσω</a:t>
            </a:r>
            <a:r>
              <a:rPr lang="EN-US">
                <a:solidFill>
                  <a:srgbClr val="8AD0D6"/>
                </a:solidFill>
                <a:latin typeface="Century Gothic"/>
              </a:rPr>
              <a:t>π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ικες</a:t>
            </a:r>
            <a:r>
              <a:rPr lang="EN-US">
                <a:solidFill>
                  <a:srgbClr val="8AD0D6"/>
                </a:solidFill>
                <a:latin typeface="Century Gothic"/>
              </a:rPr>
              <a:t> επ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ικοινωνιες</a:t>
            </a:r>
          </a:p>
        </p:txBody>
      </p:sp>
    </p:spTree>
    <p:extLst>
      <p:ext uri="{BB962C8B-B14F-4D97-AF65-F5344CB8AC3E}">
        <p14:creationId xmlns:p14="http://schemas.microsoft.com/office/powerpoint/2010/main" val="3213800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Πα</a:t>
            </a:r>
            <a:r>
              <a:rPr lang="EN-US" err="1"/>
              <a:t>ρουσί</a:t>
            </a:r>
            <a:r>
              <a:rPr lang="EN-US"/>
              <a:t>α</a:t>
            </a:r>
            <a:r>
              <a:rPr lang="EN-US" err="1"/>
              <a:t>ση</a:t>
            </a:r>
            <a:r>
              <a:rPr lang="EN-US"/>
              <a:t> </a:t>
            </a:r>
            <a:r>
              <a:rPr lang="EN-US" err="1"/>
              <a:t>του</a:t>
            </a:r>
            <a:r>
              <a:rPr lang="EN-US"/>
              <a:t> </a:t>
            </a:r>
            <a:r>
              <a:rPr lang="EN-US" err="1"/>
              <a:t>IoT</a:t>
            </a:r>
            <a:endParaRPr lang="EN-US">
              <a:solidFill>
                <a:srgbClr val="EBEBEB"/>
              </a:solidFill>
              <a:latin typeface="Century Gothic"/>
            </a:endParaRP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1108558" y="1390650"/>
            <a:ext cx="8947150" cy="50099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Ιστορική</a:t>
            </a:r>
            <a:r>
              <a:rPr lang="EN-US"/>
              <a:t> ανα</a:t>
            </a:r>
            <a:r>
              <a:rPr lang="EN-US" err="1"/>
              <a:t>δρομή</a:t>
            </a:r>
            <a:r>
              <a:rPr lang="EN-US"/>
              <a:t> </a:t>
            </a:r>
            <a:r>
              <a:rPr lang="EN-US" err="1"/>
              <a:t>στη</a:t>
            </a:r>
            <a:r>
              <a:rPr lang="EN-US"/>
              <a:t> </a:t>
            </a:r>
            <a:r>
              <a:rPr lang="EN-US" err="1"/>
              <a:t>γέννηση</a:t>
            </a:r>
            <a:r>
              <a:rPr lang="EN-US"/>
              <a:t> </a:t>
            </a:r>
            <a:r>
              <a:rPr lang="EN-US" err="1"/>
              <a:t>του</a:t>
            </a:r>
            <a:r>
              <a:rPr lang="EN-US"/>
              <a:t> internet of things</a:t>
            </a:r>
          </a:p>
          <a:p>
            <a:r>
              <a:rPr lang="EN-US" err="1">
                <a:solidFill>
                  <a:srgbClr val="FFFFFF"/>
                </a:solidFill>
                <a:latin typeface="Century Gothic"/>
              </a:rPr>
              <a:t>Ορισμός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(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είν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αι ?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σημ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ίνει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?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Έν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πα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ράδειγμ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?)</a:t>
            </a:r>
          </a:p>
          <a:p>
            <a:r>
              <a:rPr lang="EN-US" err="1">
                <a:solidFill>
                  <a:srgbClr val="FFFFFF"/>
                </a:solidFill>
                <a:latin typeface="Century Gothic"/>
              </a:rPr>
              <a:t>Πιο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σύνθετ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παρα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δείγμ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ατα</a:t>
            </a:r>
          </a:p>
          <a:p>
            <a:r>
              <a:rPr lang="EN-US">
                <a:solidFill>
                  <a:srgbClr val="FFFFFF"/>
                </a:solidFill>
                <a:latin typeface="Century Gothic"/>
              </a:rPr>
              <a:t>Η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τεχνολογί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του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IoT</a:t>
            </a:r>
            <a:endParaRPr lang="EN-US">
              <a:solidFill>
                <a:srgbClr val="FFFFFF"/>
              </a:solidFill>
              <a:latin typeface="Century Gothic"/>
            </a:endParaRPr>
          </a:p>
          <a:p>
            <a:r>
              <a:rPr lang="EN-US" err="1">
                <a:solidFill>
                  <a:srgbClr val="FFFFFF"/>
                </a:solidFill>
                <a:latin typeface="Century Gothic"/>
              </a:rPr>
              <a:t>Λογισμικό</a:t>
            </a:r>
            <a:r>
              <a:rPr lang="EN-US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Υλικό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και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λοι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ές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υπ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οδομές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Δεδομέν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</a:p>
          <a:p>
            <a:r>
              <a:rPr lang="EN-US" err="1"/>
              <a:t>Κινητικότητ</a:t>
            </a:r>
            <a:r>
              <a:rPr lang="EN-US"/>
              <a:t>α </a:t>
            </a:r>
            <a:r>
              <a:rPr lang="EN-US" err="1"/>
              <a:t>ΙοΤ</a:t>
            </a:r>
          </a:p>
          <a:p>
            <a:r>
              <a:rPr lang="EN-US" err="1"/>
              <a:t>Τελικό</a:t>
            </a:r>
            <a:r>
              <a:rPr lang="EN-US"/>
              <a:t> Απ</a:t>
            </a:r>
            <a:r>
              <a:rPr lang="EN-US" err="1"/>
              <a:t>οτέλεσμ</a:t>
            </a:r>
            <a:r>
              <a:rPr lang="EN-US"/>
              <a:t>α</a:t>
            </a:r>
          </a:p>
          <a:p>
            <a:r>
              <a:rPr lang="EN-US" err="1"/>
              <a:t>Ανησυχίες</a:t>
            </a:r>
            <a:r>
              <a:rPr lang="EN-US"/>
              <a:t> </a:t>
            </a:r>
            <a:r>
              <a:rPr lang="EN-US" err="1"/>
              <a:t>φιλοσοφικής</a:t>
            </a:r>
            <a:r>
              <a:rPr lang="EN-US"/>
              <a:t> </a:t>
            </a:r>
            <a:r>
              <a:rPr lang="EN-US" err="1"/>
              <a:t>φύσεως</a:t>
            </a:r>
            <a:r>
              <a:rPr lang="EN-US"/>
              <a:t>....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rgbClr val="EBEBEB"/>
                </a:solidFill>
                <a:latin typeface="Century Gothic"/>
              </a:rPr>
              <a:t>Μερικά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σημ</a:t>
            </a:r>
            <a:r>
              <a:rPr lang="EN-US">
                <a:solidFill>
                  <a:srgbClr val="EBEBEB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ντικά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ιστορικά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συμ</a:t>
            </a:r>
            <a:r>
              <a:rPr lang="EN-US">
                <a:solidFill>
                  <a:srgbClr val="EBEBEB"/>
                </a:solidFill>
                <a:latin typeface="Century Gothic"/>
              </a:rPr>
              <a:t>β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άντ</a:t>
            </a:r>
            <a:r>
              <a:rPr lang="EN-US">
                <a:solidFill>
                  <a:srgbClr val="EBEBEB"/>
                </a:solidFill>
                <a:latin typeface="Century Gothic"/>
              </a:rPr>
              <a:t>α.....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L"/>
              <a:t>τηλέγραφος 1832: Ένας ηλεκτρομαγνητικός τηλέγραφος δημιουργήθηκε από τον Βαρόνου </a:t>
            </a:r>
            <a:r>
              <a:rPr lang="EL" err="1"/>
              <a:t>Schilling</a:t>
            </a:r>
            <a:r>
              <a:rPr lang="EL"/>
              <a:t> στη Ρωσία, και το 1833 ο </a:t>
            </a:r>
            <a:r>
              <a:rPr lang="EL" err="1"/>
              <a:t>Carl</a:t>
            </a:r>
            <a:r>
              <a:rPr lang="EL"/>
              <a:t> </a:t>
            </a:r>
            <a:r>
              <a:rPr lang="EL" err="1"/>
              <a:t>Friedrich</a:t>
            </a:r>
            <a:r>
              <a:rPr lang="EL"/>
              <a:t> </a:t>
            </a:r>
            <a:r>
              <a:rPr lang="EL" err="1"/>
              <a:t>Gauss</a:t>
            </a:r>
            <a:r>
              <a:rPr lang="EL"/>
              <a:t> και </a:t>
            </a:r>
            <a:r>
              <a:rPr lang="EL" err="1"/>
              <a:t>Wilhelm</a:t>
            </a:r>
            <a:r>
              <a:rPr lang="EL"/>
              <a:t> </a:t>
            </a:r>
            <a:r>
              <a:rPr lang="EL" err="1"/>
              <a:t>Weber</a:t>
            </a:r>
            <a:r>
              <a:rPr lang="EL"/>
              <a:t> </a:t>
            </a:r>
            <a:r>
              <a:rPr lang="EL" err="1"/>
              <a:t>εφεύρήσκουν</a:t>
            </a:r>
            <a:r>
              <a:rPr lang="EL"/>
              <a:t> το δικό τους κώδικα επικοινωνίας σε απόσταση 1200 m στη πόλη </a:t>
            </a:r>
            <a:r>
              <a:rPr lang="EL" err="1"/>
              <a:t>Göttingen</a:t>
            </a:r>
            <a:r>
              <a:rPr lang="EL"/>
              <a:t> της Γερμανίας.</a:t>
            </a:r>
          </a:p>
          <a:p>
            <a:r>
              <a:rPr lang="EL" b="1"/>
              <a:t>1969:</a:t>
            </a:r>
            <a:r>
              <a:rPr lang="EL"/>
              <a:t> </a:t>
            </a:r>
            <a:r>
              <a:rPr lang="EL">
                <a:hlinkClick r:id="rId3"/>
              </a:rPr>
              <a:t>Arpanet</a:t>
            </a:r>
            <a:r>
              <a:rPr lang="EL"/>
              <a:t>. Ο οργανισμός </a:t>
            </a:r>
            <a:r>
              <a:rPr lang="EL" err="1"/>
              <a:t>Advanced</a:t>
            </a:r>
            <a:r>
              <a:rPr lang="EL"/>
              <a:t> Research </a:t>
            </a:r>
            <a:r>
              <a:rPr lang="EL" err="1"/>
              <a:t>Projects</a:t>
            </a:r>
            <a:r>
              <a:rPr lang="EL"/>
              <a:t> δικτύου (ARPANET) ήταν ένα πρώιμο δίκτυο μεταγωγής πακέτων και το πρώτο δίκτυο για την εφαρμογή του πρωτοκόλλου TCP / IP. Και οι δύο τεχνολογίες έγιναν η τεχνική βάση του Διαδικτύου.</a:t>
            </a:r>
          </a:p>
          <a:p>
            <a:r>
              <a:rPr lang="EL" b="1"/>
              <a:t>1989</a:t>
            </a:r>
            <a:r>
              <a:rPr lang="EL"/>
              <a:t>: </a:t>
            </a:r>
            <a:r>
              <a:rPr lang="EL" err="1"/>
              <a:t>Tim</a:t>
            </a:r>
            <a:r>
              <a:rPr lang="EL"/>
              <a:t> </a:t>
            </a:r>
            <a:r>
              <a:rPr lang="EL" err="1"/>
              <a:t>Berners-Lee</a:t>
            </a:r>
            <a:r>
              <a:rPr lang="EL"/>
              <a:t> προτείνει το γνωστό μας </a:t>
            </a:r>
            <a:r>
              <a:rPr lang="EL">
                <a:hlinkClick r:id="rId4"/>
              </a:rPr>
              <a:t>World Wide Web</a:t>
            </a:r>
            <a:r>
              <a:rPr lang="EL"/>
              <a:t>.</a:t>
            </a:r>
          </a:p>
          <a:p>
            <a:r>
              <a:rPr lang="EL" b="1"/>
              <a:t>1994: </a:t>
            </a:r>
            <a:r>
              <a:rPr lang="EL">
                <a:hlinkClick r:id="rId5"/>
              </a:rPr>
              <a:t>Steve Mann</a:t>
            </a:r>
            <a:r>
              <a:rPr lang="EL"/>
              <a:t> δοκιμάζει την εφαρμογή του </a:t>
            </a:r>
            <a:r>
              <a:rPr lang="EL">
                <a:hlinkClick r:id="rId6"/>
              </a:rPr>
              <a:t>WearCam</a:t>
            </a:r>
            <a:r>
              <a:rPr lang="EL"/>
              <a:t> χωρίς όμως ιδιαίτερη επιτυχία. Ήταν όμως η πρώτη πετυχημένη έρευνα για το </a:t>
            </a:r>
            <a:r>
              <a:rPr lang="EL" err="1"/>
              <a:t>IoT</a:t>
            </a:r>
            <a:r>
              <a:rPr lang="EL"/>
              <a:t> όπως θα δούμε. </a:t>
            </a:r>
            <a:r>
              <a:rPr lang="EL">
                <a:hlinkClick r:id="rId6"/>
              </a:rPr>
              <a:t>http://wearcam.org/myview.html</a:t>
            </a:r>
            <a:br>
              <a:rPr lang="EL"/>
            </a:br>
            <a:endParaRPr lang="EL"/>
          </a:p>
          <a:p>
            <a:endParaRPr lang="EL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rgbClr val="EBEBEB"/>
                </a:solidFill>
                <a:latin typeface="Century Gothic"/>
              </a:rPr>
              <a:t>Ιστορικές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ρήσεις</a:t>
            </a:r>
            <a:r>
              <a:rPr lang="EN-US">
                <a:solidFill>
                  <a:srgbClr val="EBEBEB"/>
                </a:solidFill>
                <a:latin typeface="Century Gothic"/>
              </a:rPr>
              <a:t>.....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1108075" y="1438275"/>
            <a:ext cx="8947150" cy="50892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1926</a:t>
            </a:r>
            <a:r>
              <a:rPr lang="EN-US"/>
              <a:t>: </a:t>
            </a:r>
            <a:r>
              <a:rPr lang="EN-US">
                <a:hlinkClick r:id="rId3"/>
              </a:rPr>
              <a:t>Nikola Tesla</a:t>
            </a:r>
            <a:r>
              <a:rPr lang="EN-US"/>
              <a:t> </a:t>
            </a:r>
            <a:r>
              <a:rPr lang="EN-US" err="1"/>
              <a:t>σε</a:t>
            </a:r>
            <a:r>
              <a:rPr lang="EN-US"/>
              <a:t> </a:t>
            </a:r>
            <a:r>
              <a:rPr lang="EN-US" err="1"/>
              <a:t>έν</a:t>
            </a:r>
            <a:r>
              <a:rPr lang="EN-US"/>
              <a:t>α </a:t>
            </a:r>
            <a:r>
              <a:rPr lang="EN-US" err="1"/>
              <a:t>άρθρο</a:t>
            </a:r>
            <a:r>
              <a:rPr lang="EN-US"/>
              <a:t> </a:t>
            </a:r>
            <a:r>
              <a:rPr lang="EN-US" err="1"/>
              <a:t>στο</a:t>
            </a:r>
            <a:r>
              <a:rPr lang="EN-US"/>
              <a:t> π</a:t>
            </a:r>
            <a:r>
              <a:rPr lang="EN-US" err="1"/>
              <a:t>εριοδικό</a:t>
            </a:r>
            <a:r>
              <a:rPr lang="EN-US"/>
              <a:t> Colliers : "...</a:t>
            </a:r>
            <a:r>
              <a:rPr lang="EL"/>
              <a:t>Όταν ασύρματη </a:t>
            </a:r>
            <a:r>
              <a:rPr lang="EL" err="1"/>
              <a:t>επικοινωνια</a:t>
            </a:r>
            <a:r>
              <a:rPr lang="EL"/>
              <a:t> εφαρμοστεί απόλυτα, όλη η γη θα μετατραπεί σε ένα τεράστιο εγκέφαλο, όλα τα </a:t>
            </a:r>
            <a:r>
              <a:rPr lang="EL">
                <a:solidFill>
                  <a:srgbClr val="171717"/>
                </a:solidFill>
              </a:rPr>
              <a:t>πράγματα </a:t>
            </a:r>
            <a:r>
              <a:rPr lang="EL">
                <a:solidFill>
                  <a:srgbClr val="FFFFFF"/>
                </a:solidFill>
              </a:rPr>
              <a:t>θα</a:t>
            </a:r>
            <a:r>
              <a:rPr lang="EL">
                <a:solidFill>
                  <a:srgbClr val="757575"/>
                </a:solidFill>
              </a:rPr>
              <a:t> </a:t>
            </a:r>
            <a:r>
              <a:rPr lang="EL"/>
              <a:t>είναι </a:t>
            </a:r>
            <a:r>
              <a:rPr lang="EL">
                <a:solidFill>
                  <a:srgbClr val="000000"/>
                </a:solidFill>
              </a:rPr>
              <a:t>διασυνδεδεμένα </a:t>
            </a:r>
            <a:r>
              <a:rPr lang="EL"/>
              <a:t>σωματίδια του όλου..."</a:t>
            </a:r>
          </a:p>
          <a:p>
            <a:r>
              <a:rPr lang="EL" b="1"/>
              <a:t>1950: </a:t>
            </a:r>
            <a:r>
              <a:rPr lang="EL">
                <a:hlinkClick r:id="rId4"/>
              </a:rPr>
              <a:t>Alan Turing</a:t>
            </a:r>
            <a:r>
              <a:rPr lang="EL"/>
              <a:t> στο άρθρο του </a:t>
            </a:r>
            <a:r>
              <a:rPr lang="EL" i="1">
                <a:hlinkClick r:id="rId5"/>
              </a:rPr>
              <a:t>Computing Machinery and Intelligence</a:t>
            </a:r>
            <a:r>
              <a:rPr lang="EL"/>
              <a:t> </a:t>
            </a:r>
            <a:r>
              <a:rPr lang="EL" err="1"/>
              <a:t>Oxford</a:t>
            </a:r>
            <a:r>
              <a:rPr lang="EL"/>
              <a:t> </a:t>
            </a:r>
            <a:r>
              <a:rPr lang="EL" err="1"/>
              <a:t>Mind</a:t>
            </a:r>
            <a:r>
              <a:rPr lang="EL"/>
              <a:t> ανέφερε για πρώτη φορά την έννοια της μηχανικής μάθησης και της </a:t>
            </a:r>
            <a:r>
              <a:rPr lang="EL" b="1"/>
              <a:t>συλλογής πληροφορίας</a:t>
            </a:r>
            <a:r>
              <a:rPr lang="EL"/>
              <a:t> έννοιες στενά σχετιζόμενες με τη δικτύωση πραγμάτων.</a:t>
            </a:r>
          </a:p>
          <a:p>
            <a:r>
              <a:rPr lang="EL" b="1"/>
              <a:t>1997:</a:t>
            </a:r>
            <a:r>
              <a:rPr lang="EL"/>
              <a:t> </a:t>
            </a:r>
            <a:r>
              <a:rPr lang="EL" err="1"/>
              <a:t>Paul</a:t>
            </a:r>
            <a:r>
              <a:rPr lang="EL"/>
              <a:t> </a:t>
            </a:r>
            <a:r>
              <a:rPr lang="EL" err="1"/>
              <a:t>Saffo's</a:t>
            </a:r>
            <a:r>
              <a:rPr lang="EL"/>
              <a:t> προφητικό άρθρο "</a:t>
            </a:r>
            <a:r>
              <a:rPr lang="EL">
                <a:hlinkClick r:id="rId6"/>
              </a:rPr>
              <a:t>Sensors: The Next Wave of Infotech Innovation</a:t>
            </a:r>
            <a:r>
              <a:rPr lang="EL"/>
              <a:t>".</a:t>
            </a:r>
          </a:p>
          <a:p>
            <a:r>
              <a:rPr lang="EL" b="1"/>
              <a:t>1999 - </a:t>
            </a:r>
            <a:r>
              <a:rPr lang="EL" b="1">
                <a:solidFill>
                  <a:srgbClr val="171717"/>
                </a:solidFill>
              </a:rPr>
              <a:t>Μια μεγάλη χρονιά για το </a:t>
            </a:r>
            <a:r>
              <a:rPr lang="EL" b="1" err="1">
                <a:solidFill>
                  <a:srgbClr val="171717"/>
                </a:solidFill>
              </a:rPr>
              <a:t>IoT</a:t>
            </a:r>
            <a:r>
              <a:rPr lang="EL" b="1">
                <a:solidFill>
                  <a:srgbClr val="171717"/>
                </a:solidFill>
              </a:rPr>
              <a:t> και το MIT </a:t>
            </a:r>
            <a:r>
              <a:rPr lang="EL" b="1">
                <a:latin typeface="Calibri"/>
              </a:rPr>
              <a:t>Το Διαδίκτυο των Πραγμάτων</a:t>
            </a:r>
            <a:r>
              <a:rPr lang="EL">
                <a:latin typeface="Calibri"/>
              </a:rPr>
              <a:t> όρος που επινοήθηκε από τον </a:t>
            </a:r>
            <a:r>
              <a:rPr lang="EL" err="1">
                <a:latin typeface="Calibri"/>
              </a:rPr>
              <a:t>Kevin</a:t>
            </a:r>
            <a:r>
              <a:rPr lang="EL">
                <a:latin typeface="Calibri"/>
              </a:rPr>
              <a:t> </a:t>
            </a:r>
            <a:r>
              <a:rPr lang="EL" err="1">
                <a:latin typeface="Calibri"/>
              </a:rPr>
              <a:t>Ashton</a:t>
            </a:r>
            <a:r>
              <a:rPr lang="EL">
                <a:latin typeface="Calibri"/>
              </a:rPr>
              <a:t> εκτελεστικό διευθυντή του Auto-ID </a:t>
            </a:r>
            <a:r>
              <a:rPr lang="EL" err="1">
                <a:latin typeface="Calibri"/>
              </a:rPr>
              <a:t>Center</a:t>
            </a:r>
            <a:r>
              <a:rPr lang="EL">
                <a:latin typeface="Calibri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Ορισμός</a:t>
            </a:r>
            <a:r>
              <a:rPr lang="EN-US"/>
              <a:t> </a:t>
            </a:r>
            <a:r>
              <a:rPr lang="EN-US" err="1"/>
              <a:t>του</a:t>
            </a:r>
            <a:r>
              <a:rPr lang="EN-US"/>
              <a:t> Internet of Things</a:t>
            </a:r>
            <a:endParaRPr lang="en-US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1108075" y="1371600"/>
            <a:ext cx="8947150" cy="51288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/>
              <a:t>Όλ</a:t>
            </a:r>
            <a:r>
              <a:rPr lang="EN-US"/>
              <a:t>α τα π</a:t>
            </a:r>
            <a:r>
              <a:rPr lang="EN-US" err="1"/>
              <a:t>ροηγούμεν</a:t>
            </a:r>
            <a:r>
              <a:rPr lang="EN-US"/>
              <a:t>α μας β</a:t>
            </a:r>
            <a:r>
              <a:rPr lang="EN-US" err="1"/>
              <a:t>οηθούν</a:t>
            </a:r>
            <a:r>
              <a:rPr lang="EN-US"/>
              <a:t> να κατα</a:t>
            </a:r>
            <a:r>
              <a:rPr lang="EN-US" err="1"/>
              <a:t>νοήσουμε</a:t>
            </a:r>
            <a:r>
              <a:rPr lang="EN-US"/>
              <a:t> </a:t>
            </a:r>
            <a:r>
              <a:rPr lang="EN-US" err="1"/>
              <a:t>τους</a:t>
            </a:r>
            <a:r>
              <a:rPr lang="EN-US"/>
              <a:t> πα</a:t>
            </a:r>
            <a:r>
              <a:rPr lang="EN-US" err="1"/>
              <a:t>ρεμφερείς</a:t>
            </a:r>
            <a:r>
              <a:rPr lang="EN-US"/>
              <a:t> </a:t>
            </a:r>
            <a:r>
              <a:rPr lang="EN-US" err="1"/>
              <a:t>ορισμούς</a:t>
            </a:r>
            <a:r>
              <a:rPr lang="EN-US"/>
              <a:t> </a:t>
            </a:r>
            <a:r>
              <a:rPr lang="EN-US" err="1"/>
              <a:t>του</a:t>
            </a:r>
            <a:r>
              <a:rPr lang="EN-US"/>
              <a:t> internet of things, α</a:t>
            </a:r>
            <a:r>
              <a:rPr lang="EN-US" err="1"/>
              <a:t>φού</a:t>
            </a:r>
            <a:r>
              <a:rPr lang="EN-US"/>
              <a:t> μας </a:t>
            </a:r>
            <a:r>
              <a:rPr lang="EN-US" err="1"/>
              <a:t>εισάγουν</a:t>
            </a:r>
            <a:r>
              <a:rPr lang="EN-US"/>
              <a:t> </a:t>
            </a:r>
            <a:r>
              <a:rPr lang="EN-US" err="1"/>
              <a:t>στη</a:t>
            </a:r>
            <a:r>
              <a:rPr lang="EN-US"/>
              <a:t> </a:t>
            </a:r>
            <a:r>
              <a:rPr lang="EN-US" err="1"/>
              <a:t>λογική</a:t>
            </a:r>
            <a:r>
              <a:rPr lang="EN-US"/>
              <a:t> </a:t>
            </a:r>
            <a:r>
              <a:rPr lang="EN-US" err="1"/>
              <a:t>του</a:t>
            </a:r>
            <a:r>
              <a:rPr lang="EN-US"/>
              <a:t>....</a:t>
            </a:r>
          </a:p>
          <a:p>
            <a:r>
              <a:rPr lang="EL"/>
              <a:t>Το Διαδίκτυο των πραγμάτων είναι η </a:t>
            </a:r>
            <a:r>
              <a:rPr lang="EL" err="1"/>
              <a:t>διαδικτύωση</a:t>
            </a:r>
            <a:r>
              <a:rPr lang="EL"/>
              <a:t> φυσικών συσκευών, οχημάτων, κτιρίων και άλλων αντικείμενων, ενσωματωμένων με ηλεκτρονικά συστήματα, λογισμικό, αισθητήρες, και συνδεσιμότητα δικτύου που επιτρέπουν σε αυτά τα αντικείμενα να συλλέγουν και </a:t>
            </a:r>
            <a:r>
              <a:rPr lang="EL" err="1"/>
              <a:t>ανταλλάσουν</a:t>
            </a:r>
            <a:r>
              <a:rPr lang="EL"/>
              <a:t> δεδομένα.(ορισμός </a:t>
            </a:r>
            <a:r>
              <a:rPr lang="EL" err="1"/>
              <a:t>wikipedia</a:t>
            </a:r>
            <a:r>
              <a:rPr lang="EL"/>
              <a:t>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Πα</a:t>
            </a:r>
            <a:r>
              <a:rPr lang="EN-US" err="1"/>
              <a:t>ράδειγμ</a:t>
            </a:r>
            <a:r>
              <a:rPr lang="EN-US"/>
              <a:t>α: </a:t>
            </a:r>
            <a:r>
              <a:rPr lang="EN-US" err="1"/>
              <a:t>Έν</a:t>
            </a:r>
            <a:r>
              <a:rPr lang="EN-US"/>
              <a:t>α α</a:t>
            </a:r>
            <a:r>
              <a:rPr lang="EN-US" err="1"/>
              <a:t>υτορυθμιζόμενο</a:t>
            </a:r>
            <a:r>
              <a:rPr lang="EN-US"/>
              <a:t> </a:t>
            </a:r>
            <a:r>
              <a:rPr lang="EN-US" err="1"/>
              <a:t>ρολόι</a:t>
            </a:r>
            <a:r>
              <a:rPr lang="EN-US"/>
              <a:t> </a:t>
            </a:r>
            <a:r>
              <a:rPr lang="EN-US" err="1"/>
              <a:t>στο</a:t>
            </a:r>
            <a:r>
              <a:rPr lang="EN-US"/>
              <a:t> </a:t>
            </a:r>
            <a:r>
              <a:rPr lang="EN-US" err="1"/>
              <a:t>φούρνο</a:t>
            </a:r>
            <a:r>
              <a:rPr lang="EN-US"/>
              <a:t> μας π</a:t>
            </a:r>
            <a:r>
              <a:rPr lang="EN-US" err="1"/>
              <a:t>ου</a:t>
            </a:r>
            <a:r>
              <a:rPr lang="EN-US"/>
              <a:t>  β</a:t>
            </a:r>
            <a:r>
              <a:rPr lang="EN-US" err="1"/>
              <a:t>οηθά</a:t>
            </a:r>
            <a:r>
              <a:rPr lang="EN-US"/>
              <a:t> να </a:t>
            </a:r>
            <a:r>
              <a:rPr lang="EN-US" err="1"/>
              <a:t>είν</a:t>
            </a:r>
            <a:r>
              <a:rPr lang="EN-US"/>
              <a:t>αι </a:t>
            </a:r>
            <a:r>
              <a:rPr lang="EN-US" err="1"/>
              <a:t>έτοιμο</a:t>
            </a:r>
            <a:r>
              <a:rPr lang="EN-US"/>
              <a:t> και κα</a:t>
            </a:r>
            <a:r>
              <a:rPr lang="EN-US" err="1"/>
              <a:t>λά</a:t>
            </a:r>
            <a:r>
              <a:rPr lang="EN-US"/>
              <a:t> </a:t>
            </a:r>
            <a:r>
              <a:rPr lang="EN-US" err="1"/>
              <a:t>ψημένο</a:t>
            </a:r>
            <a:r>
              <a:rPr lang="EN-US"/>
              <a:t> </a:t>
            </a:r>
            <a:r>
              <a:rPr lang="EN-US" err="1"/>
              <a:t>το</a:t>
            </a:r>
            <a:r>
              <a:rPr lang="EN-US"/>
              <a:t> φα</a:t>
            </a:r>
            <a:r>
              <a:rPr lang="EN-US" err="1"/>
              <a:t>γητο</a:t>
            </a:r>
            <a:r>
              <a:rPr lang="EN-US"/>
              <a:t>...</a:t>
            </a:r>
          </a:p>
          <a:p>
            <a:pPr marL="0" indent="0">
              <a:buNone/>
            </a:pPr>
            <a:r>
              <a:rPr lang="EN-US"/>
              <a:t>                                              ....α</a:t>
            </a:r>
            <a:r>
              <a:rPr lang="EN-US" err="1"/>
              <a:t>λλά</a:t>
            </a:r>
            <a:r>
              <a:rPr lang="EN-US"/>
              <a:t> </a:t>
            </a:r>
            <a:r>
              <a:rPr lang="EN-US" err="1"/>
              <a:t>όχι</a:t>
            </a:r>
            <a:r>
              <a:rPr lang="EN-US"/>
              <a:t> και κα</a:t>
            </a:r>
            <a:r>
              <a:rPr lang="EN-US" err="1"/>
              <a:t>μμένο</a:t>
            </a:r>
            <a:r>
              <a:rPr lang="EN-US"/>
              <a:t> αν </a:t>
            </a:r>
            <a:r>
              <a:rPr lang="EN-US" err="1"/>
              <a:t>ξεχ</a:t>
            </a:r>
            <a:r>
              <a:rPr lang="EN-US"/>
              <a:t>α</a:t>
            </a:r>
            <a:r>
              <a:rPr lang="EN-US" err="1"/>
              <a:t>στούμε</a:t>
            </a:r>
            <a:r>
              <a:rPr lang="EN-US"/>
              <a:t>!</a:t>
            </a: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Πράξη</a:t>
            </a:r>
            <a:r>
              <a:rPr lang="EN-US"/>
              <a:t> </a:t>
            </a:r>
            <a:r>
              <a:rPr lang="EN-US" err="1"/>
              <a:t>του</a:t>
            </a:r>
            <a:r>
              <a:rPr lang="EN-US"/>
              <a:t> </a:t>
            </a:r>
            <a:r>
              <a:rPr lang="EN-US" err="1"/>
              <a:t>ορισμού</a:t>
            </a:r>
            <a:endParaRPr lang="en-US" err="1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376238" y="1346200"/>
            <a:ext cx="9988550" cy="541274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lvl="1"/>
            <a:r>
              <a:rPr lang="EN-US" err="1">
                <a:solidFill>
                  <a:srgbClr val="FFFFFF"/>
                </a:solidFill>
                <a:latin typeface="Century Gothic"/>
              </a:rPr>
              <a:t>Έξυ</a:t>
            </a:r>
            <a:r>
              <a:rPr lang="EN-US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νες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κλειδ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ριές</a:t>
            </a:r>
          </a:p>
          <a:p>
            <a:pPr lvl="1"/>
            <a:r>
              <a:rPr lang="EN-US" err="1">
                <a:solidFill>
                  <a:srgbClr val="FFFFFF"/>
                </a:solidFill>
                <a:latin typeface="Century Gothic"/>
              </a:rPr>
              <a:t>Θερμοστάτες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(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γι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οικι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κή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θέρμ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νση</a:t>
            </a:r>
            <a:r>
              <a:rPr lang="EN-US">
                <a:solidFill>
                  <a:srgbClr val="FFFFFF"/>
                </a:solidFill>
                <a:latin typeface="Century Gothic"/>
              </a:rPr>
              <a:t>)</a:t>
            </a:r>
          </a:p>
          <a:p>
            <a:pPr lvl="1"/>
            <a:r>
              <a:rPr lang="EN-US" err="1">
                <a:solidFill>
                  <a:srgbClr val="FFFFFF"/>
                </a:solidFill>
                <a:latin typeface="Century Gothic"/>
              </a:rPr>
              <a:t>Αυτόνομοι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ρυθμιστές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κλιμ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τισμού</a:t>
            </a:r>
          </a:p>
          <a:p>
            <a:pPr lvl="1"/>
            <a:r>
              <a:rPr lang="EN-US" err="1">
                <a:solidFill>
                  <a:srgbClr val="FFFFFF"/>
                </a:solidFill>
                <a:latin typeface="Century Gothic"/>
              </a:rPr>
              <a:t>Γενικότερ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ισθητήρες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γι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οικι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κή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χρήση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π.χ.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συσκευή</a:t>
            </a:r>
          </a:p>
          <a:p>
            <a:pPr marL="914400" lvl="2" indent="0">
              <a:buNone/>
            </a:pPr>
            <a:r>
              <a:rPr lang="EN-US" err="1">
                <a:solidFill>
                  <a:srgbClr val="FFFFFF"/>
                </a:solidFill>
                <a:latin typeface="Century Gothic"/>
              </a:rPr>
              <a:t>Ανίχνευσης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κλάμ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τος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μωρού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και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ενημέρωση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της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μητέρ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ας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του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κτλ</a:t>
            </a:r>
            <a:r>
              <a:rPr lang="EN-US">
                <a:solidFill>
                  <a:srgbClr val="FFFFFF"/>
                </a:solidFill>
                <a:latin typeface="Century Gothic"/>
              </a:rPr>
              <a:t>π.</a:t>
            </a:r>
          </a:p>
          <a:p>
            <a:pPr lvl="1"/>
            <a:r>
              <a:rPr lang="EN-US" err="1">
                <a:solidFill>
                  <a:srgbClr val="FFFFFF"/>
                </a:solidFill>
                <a:latin typeface="Century Gothic"/>
              </a:rPr>
              <a:t>Αισθητήρες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γι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ια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τρική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χρήση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(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κάμερες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ενδοσκό</a:t>
            </a:r>
            <a:r>
              <a:rPr lang="EN-US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ισης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μετρητές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δι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φόρων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ουσιών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κτλ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π.</a:t>
            </a:r>
            <a:endParaRPr lang="EN-US">
              <a:solidFill>
                <a:srgbClr val="FFFFFF"/>
              </a:solidFill>
              <a:latin typeface="Century Gothic"/>
            </a:endParaRPr>
          </a:p>
          <a:p>
            <a:pPr lvl="1"/>
            <a:r>
              <a:rPr lang="EN-US" sz="2000" err="1">
                <a:solidFill>
                  <a:srgbClr val="FFFFFF"/>
                </a:solidFill>
                <a:latin typeface="Century Gothic"/>
              </a:rPr>
              <a:t>Αυτόμ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ατα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συστήμ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ατα </a:t>
            </a:r>
          </a:p>
          <a:p>
            <a:pPr marL="457200" lvl="1" indent="0"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</a:rPr>
              <a:t>    π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λοήγησης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δίκυκλων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, α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υτοκινήτων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κτλ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π.</a:t>
            </a:r>
            <a:endParaRPr lang="EN-US" sz="2000">
              <a:latin typeface="Century Gothic"/>
            </a:endParaRPr>
          </a:p>
          <a:p>
            <a:pPr lvl="1"/>
            <a:endParaRPr lang="EN-US" sz="2000">
              <a:solidFill>
                <a:srgbClr val="FFFFFF"/>
              </a:solidFill>
              <a:latin typeface="Century Gothic"/>
            </a:endParaRPr>
          </a:p>
          <a:p>
            <a:pPr marL="457200" lvl="1" indent="0">
              <a:buNone/>
            </a:pPr>
            <a:endParaRPr lang="EN-US" sz="2000">
              <a:solidFill>
                <a:srgbClr val="FFFFFF"/>
              </a:solidFill>
              <a:latin typeface="Century Gothic"/>
            </a:endParaRPr>
          </a:p>
          <a:p>
            <a:pPr marL="457200" lvl="1" indent="0">
              <a:buNone/>
            </a:pPr>
            <a:endParaRPr lang="EN-US" sz="2000">
              <a:solidFill>
                <a:srgbClr val="FFFFFF"/>
              </a:solidFill>
              <a:latin typeface="Century Gothic"/>
            </a:endParaRPr>
          </a:p>
          <a:p>
            <a:pPr marL="457200" lvl="1" indent="0"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</a:rPr>
              <a:t>…..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Ίσως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ιο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απ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λά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σε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b="1" err="1">
                <a:solidFill>
                  <a:srgbClr val="FFFFFF"/>
                </a:solidFill>
                <a:latin typeface="Century Gothic"/>
              </a:rPr>
              <a:t>όλ</a:t>
            </a:r>
            <a:r>
              <a:rPr lang="EN-US" sz="2000" b="1">
                <a:solidFill>
                  <a:srgbClr val="FFFFFF"/>
                </a:solidFill>
                <a:latin typeface="Century Gothic"/>
              </a:rPr>
              <a:t>α τα π</a:t>
            </a:r>
            <a:r>
              <a:rPr lang="EN-US" sz="2000" b="1" err="1">
                <a:solidFill>
                  <a:srgbClr val="FFFFFF"/>
                </a:solidFill>
                <a:latin typeface="Century Gothic"/>
              </a:rPr>
              <a:t>ράγμ</a:t>
            </a:r>
            <a:r>
              <a:rPr lang="EN-US" sz="2000" b="1">
                <a:solidFill>
                  <a:srgbClr val="FFFFFF"/>
                </a:solidFill>
                <a:latin typeface="Century Gothic"/>
              </a:rPr>
              <a:t>ατα 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ου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χρησιμο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οιούμε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στη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κα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θημερινότητά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μας μπ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ορούμε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να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εφ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ρμόσουμε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το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IoT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.....</a:t>
            </a:r>
            <a:endParaRPr lang="EN-US" sz="2000">
              <a:latin typeface="Century Gothic"/>
            </a:endParaRPr>
          </a:p>
          <a:p>
            <a:pPr marL="457200" lvl="1" indent="0">
              <a:buNone/>
            </a:pPr>
            <a:endParaRPr lang="EN-US">
              <a:solidFill>
                <a:srgbClr val="FFFFFF"/>
              </a:solidFill>
              <a:latin typeface="Century Gothic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853" y="1150808"/>
            <a:ext cx="1190243" cy="1192064"/>
          </a:xfrm>
          <a:prstGeom prst="rect">
            <a:avLst/>
          </a:prstGeom>
        </p:spPr>
      </p:pic>
      <p:pic>
        <p:nvPicPr>
          <p:cNvPr id="5" name="Picture 4" descr="healthcare-tec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075" y="1152525"/>
            <a:ext cx="2215891" cy="1876425"/>
          </a:xfrm>
          <a:prstGeom prst="rect">
            <a:avLst/>
          </a:prstGeom>
        </p:spPr>
      </p:pic>
      <p:pic>
        <p:nvPicPr>
          <p:cNvPr id="6" name="Picture 5" descr="... by 2025, says GSMA - IoT Now - How to run an IoT enabled busines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3" y="3533775"/>
            <a:ext cx="4069431" cy="2365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Υλο</a:t>
            </a:r>
            <a:r>
              <a:rPr lang="EN-US"/>
              <a:t>π</a:t>
            </a:r>
            <a:r>
              <a:rPr lang="EN-US" err="1"/>
              <a:t>οίηση</a:t>
            </a:r>
            <a:r>
              <a:rPr lang="EN-US"/>
              <a:t> </a:t>
            </a:r>
            <a:r>
              <a:rPr lang="EN-US" err="1"/>
              <a:t>του</a:t>
            </a:r>
            <a:r>
              <a:rPr lang="EN-US"/>
              <a:t> </a:t>
            </a:r>
            <a:r>
              <a:rPr lang="EN-US" err="1"/>
              <a:t>IoT</a:t>
            </a:r>
          </a:p>
        </p:txBody>
      </p:sp>
      <p:sp>
        <p:nvSpPr>
          <p:cNvPr id="5" name="Rectangle 4"/>
          <p:cNvSpPr>
            <a:spLocks noGrp="1"/>
          </p:cNvSpPr>
          <p:nvPr>
            <p:ph idx="1"/>
          </p:nvPr>
        </p:nvSpPr>
        <p:spPr>
          <a:xfrm>
            <a:off x="1103313" y="1689366"/>
            <a:ext cx="8947150" cy="45590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>
                <a:solidFill>
                  <a:srgbClr val="FFFFFF"/>
                </a:solidFill>
                <a:latin typeface="Century Gothic"/>
              </a:rPr>
              <a:t>Το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internet of things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εμ</a:t>
            </a:r>
            <a:r>
              <a:rPr lang="EN-US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εριέχει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τα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εξής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:</a:t>
            </a:r>
          </a:p>
          <a:p>
            <a:pPr marL="457200" indent="-457200">
              <a:buFont typeface="+mj-lt"/>
              <a:buAutoNum type="arabicPeriod"/>
            </a:pPr>
            <a:r>
              <a:rPr lang="EN-US" err="1">
                <a:solidFill>
                  <a:srgbClr val="FFFFFF"/>
                </a:solidFill>
                <a:latin typeface="Century Gothic"/>
              </a:rPr>
              <a:t>Λογισμικό</a:t>
            </a:r>
          </a:p>
          <a:p>
            <a:pPr marL="457200" indent="-457200">
              <a:buFont typeface="+mj-lt"/>
              <a:buAutoNum type="arabicPeriod"/>
            </a:pPr>
            <a:r>
              <a:rPr lang="EN-US" err="1">
                <a:solidFill>
                  <a:srgbClr val="FFFFFF"/>
                </a:solidFill>
                <a:latin typeface="Century Gothic"/>
              </a:rPr>
              <a:t>Υλικό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(η 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ιο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απ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λά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τις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συσκευές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err="1">
                <a:solidFill>
                  <a:srgbClr val="FFFFFF"/>
                </a:solidFill>
                <a:latin typeface="Century Gothic"/>
              </a:rPr>
              <a:t>Συλλογή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Δεδομένων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και</a:t>
            </a:r>
          </a:p>
          <a:p>
            <a:pPr marL="457200" indent="-457200">
              <a:buFont typeface="+mj-lt"/>
              <a:buAutoNum type="arabicPeriod"/>
            </a:pPr>
            <a:r>
              <a:rPr lang="EN-US" err="1">
                <a:solidFill>
                  <a:srgbClr val="FFFFFF"/>
                </a:solidFill>
                <a:latin typeface="Century Gothic"/>
              </a:rPr>
              <a:t>Δι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χείρηση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Δεδομένων</a:t>
            </a:r>
          </a:p>
          <a:p>
            <a:pPr marL="457200" indent="-457200">
              <a:buFont typeface="+mj-lt"/>
              <a:buAutoNum type="arabicPeriod"/>
            </a:pPr>
            <a:endParaRPr lang="EN-US">
              <a:solidFill>
                <a:srgbClr val="FFFFFF"/>
              </a:solidFill>
              <a:latin typeface="Century Gothic"/>
            </a:endParaRPr>
          </a:p>
          <a:p>
            <a:pPr marL="0" indent="0">
              <a:buNone/>
            </a:pPr>
            <a:r>
              <a:rPr lang="EN-US" err="1">
                <a:solidFill>
                  <a:srgbClr val="FFFFFF"/>
                </a:solidFill>
                <a:latin typeface="Century Gothic"/>
              </a:rPr>
              <a:t>Κάθε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έν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από τα παραπ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άνω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απ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οτελεί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έν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ολόκληρο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κλάδο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στην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επ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ιστήμη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της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τεχνολογί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ας ή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της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ληροφορικής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γενικότερ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α....</a:t>
            </a:r>
          </a:p>
          <a:p>
            <a:pPr marL="0" indent="0">
              <a:buNone/>
            </a:pPr>
            <a:endParaRPr lang="EN-US">
              <a:solidFill>
                <a:srgbClr val="FFFFFF"/>
              </a:solidFill>
              <a:latin typeface="Century Gothic"/>
            </a:endParaRPr>
          </a:p>
          <a:p>
            <a:pPr marL="457200" indent="-457200">
              <a:buFont typeface="+mj-lt"/>
              <a:buAutoNum type="arabicPeriod"/>
            </a:pPr>
            <a:endParaRPr lang="EN-US">
              <a:solidFill>
                <a:srgbClr val="FFFFFF"/>
              </a:solidFill>
              <a:latin typeface="Century Gothic"/>
            </a:endParaRPr>
          </a:p>
          <a:p>
            <a:pPr marL="0" indent="0">
              <a:buNone/>
            </a:pPr>
            <a:endParaRPr lang="EN-US">
              <a:solidFill>
                <a:srgbClr val="FFFFFF"/>
              </a:solidFill>
              <a:latin typeface="Century Gothic"/>
            </a:endParaRPr>
          </a:p>
          <a:p>
            <a:endParaRPr lang="EN-US">
              <a:solidFill>
                <a:srgbClr val="FFFFFF"/>
              </a:solidFill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Λογισμικό</a:t>
            </a:r>
            <a:r>
              <a:rPr lang="EN-US"/>
              <a:t> (Software)</a:t>
            </a:r>
          </a:p>
        </p:txBody>
      </p:sp>
      <p:sp>
        <p:nvSpPr>
          <p:cNvPr id="5" name="Rectangle 4"/>
          <p:cNvSpPr>
            <a:spLocks noGrp="1"/>
          </p:cNvSpPr>
          <p:nvPr>
            <p:ph idx="1"/>
          </p:nvPr>
        </p:nvSpPr>
        <p:spPr>
          <a:xfrm>
            <a:off x="1103313" y="1257300"/>
            <a:ext cx="8947150" cy="52169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/>
              <a:t>Στο</a:t>
            </a:r>
            <a:r>
              <a:rPr lang="EN-US"/>
              <a:t> </a:t>
            </a:r>
            <a:r>
              <a:rPr lang="EN-US" err="1"/>
              <a:t>IoT</a:t>
            </a:r>
            <a:r>
              <a:rPr lang="EN-US"/>
              <a:t> </a:t>
            </a:r>
            <a:r>
              <a:rPr lang="EN-US" err="1"/>
              <a:t>οι</a:t>
            </a:r>
            <a:r>
              <a:rPr lang="EN-US"/>
              <a:t> </a:t>
            </a:r>
            <a:r>
              <a:rPr lang="EN-US" err="1"/>
              <a:t>μηχ</a:t>
            </a:r>
            <a:r>
              <a:rPr lang="EN-US"/>
              <a:t>α</a:t>
            </a:r>
            <a:r>
              <a:rPr lang="EN-US" err="1"/>
              <a:t>νικοί</a:t>
            </a:r>
            <a:r>
              <a:rPr lang="EN-US"/>
              <a:t> </a:t>
            </a:r>
            <a:r>
              <a:rPr lang="EN-US" err="1"/>
              <a:t>λογισμικού</a:t>
            </a:r>
            <a:r>
              <a:rPr lang="EN-US"/>
              <a:t> απα</a:t>
            </a:r>
            <a:r>
              <a:rPr lang="EN-US" err="1"/>
              <a:t>ντούν</a:t>
            </a:r>
            <a:r>
              <a:rPr lang="EN-US"/>
              <a:t> </a:t>
            </a:r>
            <a:r>
              <a:rPr lang="EN-US" err="1"/>
              <a:t>στ</a:t>
            </a:r>
            <a:r>
              <a:rPr lang="EN-US"/>
              <a:t>α </a:t>
            </a:r>
            <a:r>
              <a:rPr lang="EN-US" err="1"/>
              <a:t>ερώτημ</a:t>
            </a:r>
            <a:r>
              <a:rPr lang="EN-US"/>
              <a:t>ατα.</a:t>
            </a:r>
          </a:p>
          <a:p>
            <a:pPr lvl="1"/>
            <a:r>
              <a:rPr lang="EN-US" err="1"/>
              <a:t>Ποιό</a:t>
            </a:r>
            <a:r>
              <a:rPr lang="EN-US"/>
              <a:t> η π</a:t>
            </a:r>
            <a:r>
              <a:rPr lang="EN-US" err="1"/>
              <a:t>οιά</a:t>
            </a:r>
            <a:r>
              <a:rPr lang="EN-US"/>
              <a:t> π</a:t>
            </a:r>
            <a:r>
              <a:rPr lang="EN-US" err="1"/>
              <a:t>ρό</a:t>
            </a:r>
            <a:r>
              <a:rPr lang="EN-US"/>
              <a:t>β</a:t>
            </a:r>
            <a:r>
              <a:rPr lang="EN-US" err="1"/>
              <a:t>λημ</a:t>
            </a:r>
            <a:r>
              <a:rPr lang="EN-US"/>
              <a:t>α/τα </a:t>
            </a:r>
            <a:r>
              <a:rPr lang="EN-US" err="1"/>
              <a:t>θέλω</a:t>
            </a:r>
            <a:r>
              <a:rPr lang="EN-US"/>
              <a:t> να </a:t>
            </a:r>
            <a:r>
              <a:rPr lang="EN-US" err="1"/>
              <a:t>λύσω</a:t>
            </a:r>
            <a:r>
              <a:rPr lang="EN-US"/>
              <a:t> ?</a:t>
            </a:r>
          </a:p>
          <a:p>
            <a:pPr lvl="1"/>
            <a:r>
              <a:rPr lang="EN-US" err="1"/>
              <a:t>Γι</a:t>
            </a:r>
            <a:r>
              <a:rPr lang="EN-US"/>
              <a:t>α π</a:t>
            </a:r>
            <a:r>
              <a:rPr lang="EN-US" err="1"/>
              <a:t>οιούς</a:t>
            </a:r>
            <a:r>
              <a:rPr lang="EN-US"/>
              <a:t> </a:t>
            </a:r>
            <a:r>
              <a:rPr lang="EN-US" err="1"/>
              <a:t>δίνω</a:t>
            </a:r>
            <a:r>
              <a:rPr lang="EN-US"/>
              <a:t> </a:t>
            </a:r>
            <a:r>
              <a:rPr lang="EN-US" err="1"/>
              <a:t>λύση</a:t>
            </a:r>
            <a:r>
              <a:rPr lang="EN-US"/>
              <a:t> ? (π.χ. </a:t>
            </a:r>
            <a:r>
              <a:rPr lang="EN-US" err="1"/>
              <a:t>σε</a:t>
            </a:r>
            <a:r>
              <a:rPr lang="EN-US"/>
              <a:t> </a:t>
            </a:r>
            <a:r>
              <a:rPr lang="EN-US" err="1"/>
              <a:t>γι</a:t>
            </a:r>
            <a:r>
              <a:rPr lang="EN-US"/>
              <a:t>α</a:t>
            </a:r>
            <a:r>
              <a:rPr lang="EN-US" err="1"/>
              <a:t>τρούς</a:t>
            </a:r>
            <a:r>
              <a:rPr lang="EN-US"/>
              <a:t> ή </a:t>
            </a:r>
            <a:r>
              <a:rPr lang="EN-US" err="1"/>
              <a:t>οικογενειάρχες</a:t>
            </a:r>
            <a:r>
              <a:rPr lang="EN-US"/>
              <a:t>)</a:t>
            </a:r>
          </a:p>
          <a:p>
            <a:pPr lvl="1"/>
            <a:r>
              <a:rPr lang="EN-US" err="1"/>
              <a:t>Με</a:t>
            </a:r>
            <a:r>
              <a:rPr lang="EN-US"/>
              <a:t> π</a:t>
            </a:r>
            <a:r>
              <a:rPr lang="EN-US" err="1"/>
              <a:t>οιό</a:t>
            </a:r>
            <a:r>
              <a:rPr lang="EN-US"/>
              <a:t> </a:t>
            </a:r>
            <a:r>
              <a:rPr lang="EN-US" err="1"/>
              <a:t>κριτήριο</a:t>
            </a:r>
            <a:r>
              <a:rPr lang="EN-US"/>
              <a:t> θα </a:t>
            </a:r>
            <a:r>
              <a:rPr lang="EN-US" err="1"/>
              <a:t>κρ</a:t>
            </a:r>
            <a:r>
              <a:rPr lang="EN-US"/>
              <a:t>α</a:t>
            </a:r>
            <a:r>
              <a:rPr lang="EN-US" err="1"/>
              <a:t>τάω</a:t>
            </a:r>
            <a:r>
              <a:rPr lang="EN-US"/>
              <a:t> </a:t>
            </a:r>
            <a:r>
              <a:rPr lang="EN-US" err="1"/>
              <a:t>δεδομέν</a:t>
            </a:r>
            <a:r>
              <a:rPr lang="EN-US"/>
              <a:t>α ?</a:t>
            </a:r>
          </a:p>
          <a:p>
            <a:pPr lvl="1"/>
            <a:r>
              <a:rPr lang="EN-US" err="1"/>
              <a:t>Σε</a:t>
            </a:r>
            <a:r>
              <a:rPr lang="EN-US"/>
              <a:t> π</a:t>
            </a:r>
            <a:r>
              <a:rPr lang="EN-US" err="1"/>
              <a:t>οιές</a:t>
            </a:r>
            <a:r>
              <a:rPr lang="EN-US"/>
              <a:t> </a:t>
            </a:r>
            <a:r>
              <a:rPr lang="EN-US" err="1"/>
              <a:t>ερωτήσεις</a:t>
            </a:r>
            <a:r>
              <a:rPr lang="EN-US"/>
              <a:t> θα απα</a:t>
            </a:r>
            <a:r>
              <a:rPr lang="EN-US" err="1"/>
              <a:t>ντώ</a:t>
            </a:r>
            <a:r>
              <a:rPr lang="EN-US"/>
              <a:t> ?</a:t>
            </a:r>
          </a:p>
          <a:p>
            <a:pPr marL="457200" lvl="1" indent="0">
              <a:buNone/>
            </a:pPr>
            <a:r>
              <a:rPr lang="EN-US"/>
              <a:t>Πα</a:t>
            </a:r>
            <a:r>
              <a:rPr lang="EN-US" err="1"/>
              <a:t>ράδειγμ</a:t>
            </a:r>
            <a:r>
              <a:rPr lang="EN-US"/>
              <a:t>α:</a:t>
            </a:r>
          </a:p>
          <a:p>
            <a:pPr marL="457200" lvl="1" indent="0">
              <a:buNone/>
            </a:pPr>
            <a:r>
              <a:rPr lang="EN-US" err="1"/>
              <a:t>Θέλω</a:t>
            </a:r>
            <a:r>
              <a:rPr lang="EN-US"/>
              <a:t> να επ</a:t>
            </a:r>
            <a:r>
              <a:rPr lang="EN-US" err="1"/>
              <a:t>ιλύσω</a:t>
            </a:r>
            <a:r>
              <a:rPr lang="EN-US"/>
              <a:t> </a:t>
            </a:r>
            <a:r>
              <a:rPr lang="EN-US" err="1"/>
              <a:t>το</a:t>
            </a:r>
            <a:r>
              <a:rPr lang="EN-US"/>
              <a:t> π</a:t>
            </a:r>
            <a:r>
              <a:rPr lang="EN-US" err="1"/>
              <a:t>ρό</a:t>
            </a:r>
            <a:r>
              <a:rPr lang="EN-US"/>
              <a:t>β</a:t>
            </a:r>
            <a:r>
              <a:rPr lang="EN-US" err="1"/>
              <a:t>λημ</a:t>
            </a:r>
            <a:r>
              <a:rPr lang="EN-US"/>
              <a:t>α </a:t>
            </a:r>
            <a:r>
              <a:rPr lang="EN-US" err="1"/>
              <a:t>του</a:t>
            </a:r>
            <a:r>
              <a:rPr lang="EN-US"/>
              <a:t> </a:t>
            </a:r>
            <a:r>
              <a:rPr lang="EN-US" err="1"/>
              <a:t>άψητου</a:t>
            </a:r>
            <a:r>
              <a:rPr lang="EN-US"/>
              <a:t> ή κα</a:t>
            </a:r>
            <a:r>
              <a:rPr lang="EN-US" err="1"/>
              <a:t>μμένου</a:t>
            </a:r>
            <a:r>
              <a:rPr lang="EN-US"/>
              <a:t> φα</a:t>
            </a:r>
            <a:r>
              <a:rPr lang="EN-US" err="1"/>
              <a:t>γητού</a:t>
            </a:r>
          </a:p>
          <a:p>
            <a:pPr marL="457200" lvl="1" indent="0">
              <a:buNone/>
            </a:pPr>
            <a:r>
              <a:rPr lang="EN-US"/>
              <a:t>Απ</a:t>
            </a:r>
            <a:r>
              <a:rPr lang="EN-US" err="1"/>
              <a:t>ευθύνομε</a:t>
            </a:r>
            <a:r>
              <a:rPr lang="EN-US"/>
              <a:t> </a:t>
            </a:r>
            <a:r>
              <a:rPr lang="EN-US" err="1"/>
              <a:t>σε</a:t>
            </a:r>
            <a:r>
              <a:rPr lang="EN-US"/>
              <a:t> </a:t>
            </a:r>
            <a:r>
              <a:rPr lang="EN-US" err="1"/>
              <a:t>μι</a:t>
            </a:r>
            <a:r>
              <a:rPr lang="EN-US"/>
              <a:t>α </a:t>
            </a:r>
            <a:r>
              <a:rPr lang="EN-US" err="1"/>
              <a:t>νοικοκυρά</a:t>
            </a:r>
            <a:r>
              <a:rPr lang="EN-US"/>
              <a:t> π</a:t>
            </a:r>
            <a:r>
              <a:rPr lang="EN-US" err="1"/>
              <a:t>ου</a:t>
            </a:r>
            <a:r>
              <a:rPr lang="EN-US"/>
              <a:t> </a:t>
            </a:r>
            <a:r>
              <a:rPr lang="EN-US" err="1"/>
              <a:t>εκτός</a:t>
            </a:r>
            <a:r>
              <a:rPr lang="EN-US"/>
              <a:t> απο </a:t>
            </a:r>
            <a:r>
              <a:rPr lang="EN-US" err="1"/>
              <a:t>το</a:t>
            </a:r>
            <a:r>
              <a:rPr lang="EN-US"/>
              <a:t> μα</a:t>
            </a:r>
            <a:r>
              <a:rPr lang="EN-US" err="1"/>
              <a:t>γείρεμ</a:t>
            </a:r>
            <a:r>
              <a:rPr lang="EN-US"/>
              <a:t>α </a:t>
            </a:r>
            <a:r>
              <a:rPr lang="EN-US" err="1"/>
              <a:t>έχει</a:t>
            </a:r>
            <a:r>
              <a:rPr lang="EN-US"/>
              <a:t> και </a:t>
            </a:r>
            <a:r>
              <a:rPr lang="EN-US" err="1"/>
              <a:t>άλλες</a:t>
            </a:r>
            <a:r>
              <a:rPr lang="EN-US"/>
              <a:t> επ</a:t>
            </a:r>
            <a:r>
              <a:rPr lang="EN-US" err="1"/>
              <a:t>είγουσες</a:t>
            </a:r>
            <a:r>
              <a:rPr lang="EN-US"/>
              <a:t> </a:t>
            </a:r>
            <a:r>
              <a:rPr lang="EN-US" err="1"/>
              <a:t>δουλειές</a:t>
            </a:r>
            <a:r>
              <a:rPr lang="EN-US"/>
              <a:t>.</a:t>
            </a:r>
          </a:p>
          <a:p>
            <a:pPr marL="457200" lvl="1" indent="0">
              <a:buNone/>
            </a:pPr>
            <a:r>
              <a:rPr lang="EN-US"/>
              <a:t>Η </a:t>
            </a:r>
            <a:r>
              <a:rPr lang="EN-US" err="1"/>
              <a:t>νοικοκυρά</a:t>
            </a:r>
            <a:r>
              <a:rPr lang="EN-US"/>
              <a:t> θα </a:t>
            </a:r>
            <a:r>
              <a:rPr lang="EN-US" err="1"/>
              <a:t>με</a:t>
            </a:r>
            <a:r>
              <a:rPr lang="EN-US"/>
              <a:t> </a:t>
            </a:r>
            <a:r>
              <a:rPr lang="EN-US" err="1"/>
              <a:t>ενημερώνει</a:t>
            </a:r>
            <a:r>
              <a:rPr lang="EN-US"/>
              <a:t> (</a:t>
            </a:r>
            <a:r>
              <a:rPr lang="EN-US" err="1"/>
              <a:t>τον</a:t>
            </a:r>
            <a:r>
              <a:rPr lang="EN-US"/>
              <a:t> α</a:t>
            </a:r>
            <a:r>
              <a:rPr lang="EN-US" err="1"/>
              <a:t>ισθητήρ</a:t>
            </a:r>
            <a:r>
              <a:rPr lang="EN-US"/>
              <a:t>α) </a:t>
            </a:r>
            <a:r>
              <a:rPr lang="EN-US" err="1"/>
              <a:t>γι</a:t>
            </a:r>
            <a:r>
              <a:rPr lang="EN-US"/>
              <a:t>α </a:t>
            </a:r>
            <a:r>
              <a:rPr lang="EN-US" err="1"/>
              <a:t>το</a:t>
            </a:r>
            <a:r>
              <a:rPr lang="EN-US"/>
              <a:t> </a:t>
            </a:r>
            <a:r>
              <a:rPr lang="EN-US" err="1"/>
              <a:t>κύριο</a:t>
            </a:r>
            <a:r>
              <a:rPr lang="EN-US"/>
              <a:t> </a:t>
            </a:r>
            <a:r>
              <a:rPr lang="EN-US" err="1"/>
              <a:t>υλικό</a:t>
            </a:r>
            <a:r>
              <a:rPr lang="EN-US"/>
              <a:t> (πα</a:t>
            </a:r>
            <a:r>
              <a:rPr lang="EN-US" err="1"/>
              <a:t>τάτες</a:t>
            </a:r>
            <a:r>
              <a:rPr lang="EN-US"/>
              <a:t>, </a:t>
            </a:r>
            <a:r>
              <a:rPr lang="EN-US" err="1"/>
              <a:t>κρέ</a:t>
            </a:r>
            <a:r>
              <a:rPr lang="EN-US"/>
              <a:t>ας </a:t>
            </a:r>
            <a:r>
              <a:rPr lang="EN-US" err="1"/>
              <a:t>κτλ</a:t>
            </a:r>
            <a:r>
              <a:rPr lang="EN-US"/>
              <a:t>π και θα </a:t>
            </a:r>
            <a:r>
              <a:rPr lang="EN-US" err="1"/>
              <a:t>μου</a:t>
            </a:r>
            <a:r>
              <a:rPr lang="EN-US"/>
              <a:t> </a:t>
            </a:r>
            <a:r>
              <a:rPr lang="EN-US" err="1"/>
              <a:t>δίνει</a:t>
            </a:r>
            <a:r>
              <a:rPr lang="EN-US"/>
              <a:t> </a:t>
            </a:r>
            <a:r>
              <a:rPr lang="EN-US" err="1"/>
              <a:t>έν</a:t>
            </a:r>
            <a:r>
              <a:rPr lang="EN-US"/>
              <a:t>α </a:t>
            </a:r>
            <a:r>
              <a:rPr lang="EN-US" err="1"/>
              <a:t>χρονικό</a:t>
            </a:r>
            <a:r>
              <a:rPr lang="EN-US"/>
              <a:t> </a:t>
            </a:r>
            <a:r>
              <a:rPr lang="EN-US" err="1"/>
              <a:t>όριο</a:t>
            </a:r>
            <a:r>
              <a:rPr lang="EN-US"/>
              <a:t>). </a:t>
            </a:r>
            <a:r>
              <a:rPr lang="EN-US" err="1"/>
              <a:t>Μετρώντ</a:t>
            </a:r>
            <a:r>
              <a:rPr lang="EN-US"/>
              <a:t>ας </a:t>
            </a:r>
            <a:r>
              <a:rPr lang="EN-US" err="1"/>
              <a:t>θερμοκρ</a:t>
            </a:r>
            <a:r>
              <a:rPr lang="EN-US"/>
              <a:t>α</a:t>
            </a:r>
            <a:r>
              <a:rPr lang="EN-US" err="1"/>
              <a:t>σί</a:t>
            </a:r>
            <a:r>
              <a:rPr lang="EN-US"/>
              <a:t>α </a:t>
            </a:r>
            <a:r>
              <a:rPr lang="EN-US" err="1"/>
              <a:t>υγρ</a:t>
            </a:r>
            <a:r>
              <a:rPr lang="EN-US"/>
              <a:t>α</a:t>
            </a:r>
            <a:r>
              <a:rPr lang="EN-US" err="1"/>
              <a:t>σί</a:t>
            </a:r>
            <a:r>
              <a:rPr lang="EN-US"/>
              <a:t>α κ.α. θα απ</a:t>
            </a:r>
            <a:r>
              <a:rPr lang="EN-US" err="1"/>
              <a:t>οφ</a:t>
            </a:r>
            <a:r>
              <a:rPr lang="EN-US"/>
              <a:t>α</a:t>
            </a:r>
            <a:r>
              <a:rPr lang="EN-US" err="1"/>
              <a:t>ίνομ</a:t>
            </a:r>
            <a:r>
              <a:rPr lang="EN-US"/>
              <a:t>αι αν π</a:t>
            </a:r>
            <a:r>
              <a:rPr lang="EN-US" err="1"/>
              <a:t>ρέ</a:t>
            </a:r>
            <a:r>
              <a:rPr lang="EN-US"/>
              <a:t>π</a:t>
            </a:r>
            <a:r>
              <a:rPr lang="EN-US" err="1"/>
              <a:t>ει</a:t>
            </a:r>
            <a:r>
              <a:rPr lang="EN-US"/>
              <a:t> να σβ</a:t>
            </a:r>
            <a:r>
              <a:rPr lang="EN-US" err="1"/>
              <a:t>ήσω</a:t>
            </a:r>
            <a:r>
              <a:rPr lang="EN-US"/>
              <a:t> </a:t>
            </a:r>
            <a:r>
              <a:rPr lang="EN-US" err="1"/>
              <a:t>το</a:t>
            </a:r>
            <a:r>
              <a:rPr lang="EN-US"/>
              <a:t> </a:t>
            </a:r>
            <a:r>
              <a:rPr lang="EN-US" err="1"/>
              <a:t>φούρνο</a:t>
            </a:r>
            <a:r>
              <a:rPr lang="EN-US"/>
              <a:t> ή </a:t>
            </a:r>
            <a:r>
              <a:rPr lang="EN-US" err="1"/>
              <a:t>όχι</a:t>
            </a:r>
            <a:r>
              <a:rPr lang="EN-US"/>
              <a:t>.</a:t>
            </a:r>
          </a:p>
          <a:p>
            <a:pPr marL="457200" lvl="1" indent="0">
              <a:buNone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Υλικό</a:t>
            </a:r>
            <a:r>
              <a:rPr lang="EN-US"/>
              <a:t> (Hardware)</a:t>
            </a:r>
          </a:p>
        </p:txBody>
      </p:sp>
      <p:sp>
        <p:nvSpPr>
          <p:cNvPr id="5" name="Rectangle 4"/>
          <p:cNvSpPr>
            <a:spLocks noGrp="1"/>
          </p:cNvSpPr>
          <p:nvPr>
            <p:ph idx="1"/>
          </p:nvPr>
        </p:nvSpPr>
        <p:spPr>
          <a:xfrm>
            <a:off x="1103313" y="1404639"/>
            <a:ext cx="8947150" cy="4843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>
                <a:solidFill>
                  <a:srgbClr val="FFFFFF"/>
                </a:solidFill>
                <a:latin typeface="Century Gothic"/>
              </a:rPr>
              <a:t>Τι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κυκλώμ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ατα,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μικροελεγκτές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και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μικροε</a:t>
            </a:r>
            <a:r>
              <a:rPr lang="EN-US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εξεργ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στές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χρειάζομ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αι </a:t>
            </a:r>
            <a:endParaRPr lang="en-US">
              <a:solidFill>
                <a:srgbClr val="FFFFFF"/>
              </a:solidFill>
              <a:latin typeface="Century Gothic"/>
            </a:endParaRPr>
          </a:p>
          <a:p>
            <a:pPr marL="0" indent="0">
              <a:buNone/>
            </a:pPr>
            <a:r>
              <a:rPr lang="EN-US" err="1">
                <a:solidFill>
                  <a:srgbClr val="FFFFFF"/>
                </a:solidFill>
                <a:latin typeface="Century Gothic"/>
              </a:rPr>
              <a:t>γι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να υπ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οστηρίξω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τις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απα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ιτήσεις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του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λογισμικού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και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άρ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να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υλο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οιήσω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τη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λύση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του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ρο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β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λήμ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τος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 marL="0" indent="0">
              <a:buNone/>
            </a:pPr>
            <a:endParaRPr lang="EN-US">
              <a:latin typeface="Century Gothic"/>
            </a:endParaRPr>
          </a:p>
          <a:p>
            <a:pPr marL="0" indent="0">
              <a:buNone/>
            </a:pPr>
            <a:r>
              <a:rPr lang="EN-US">
                <a:latin typeface="Century Gothic"/>
              </a:rPr>
              <a:t>Επιπ</a:t>
            </a:r>
            <a:r>
              <a:rPr lang="EN-US" err="1">
                <a:latin typeface="Century Gothic"/>
              </a:rPr>
              <a:t>λέον</a:t>
            </a:r>
            <a:r>
              <a:rPr lang="EN-US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ορίζοντ</a:t>
            </a:r>
            <a:r>
              <a:rPr lang="EN-US">
                <a:latin typeface="Century Gothic"/>
              </a:rPr>
              <a:t>αι και </a:t>
            </a:r>
            <a:r>
              <a:rPr lang="EN-US" err="1">
                <a:latin typeface="Century Gothic"/>
              </a:rPr>
              <a:t>οι</a:t>
            </a:r>
            <a:r>
              <a:rPr lang="EN-US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δυν</a:t>
            </a:r>
            <a:r>
              <a:rPr lang="EN-US">
                <a:latin typeface="Century Gothic"/>
              </a:rPr>
              <a:t>α</a:t>
            </a:r>
            <a:r>
              <a:rPr lang="EN-US" err="1">
                <a:latin typeface="Century Gothic"/>
              </a:rPr>
              <a:t>τότητες</a:t>
            </a:r>
            <a:r>
              <a:rPr lang="EN-US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φορητότητ</a:t>
            </a:r>
            <a:r>
              <a:rPr lang="EN-US">
                <a:latin typeface="Century Gothic"/>
              </a:rPr>
              <a:t>ας, </a:t>
            </a:r>
            <a:r>
              <a:rPr lang="EN-US" err="1">
                <a:latin typeface="Century Gothic"/>
              </a:rPr>
              <a:t>εμ</a:t>
            </a:r>
            <a:r>
              <a:rPr lang="EN-US">
                <a:latin typeface="Century Gothic"/>
              </a:rPr>
              <a:t>β</a:t>
            </a:r>
            <a:r>
              <a:rPr lang="EN-US" err="1">
                <a:latin typeface="Century Gothic"/>
              </a:rPr>
              <a:t>έλει</a:t>
            </a:r>
            <a:r>
              <a:rPr lang="EN-US">
                <a:latin typeface="Century Gothic"/>
              </a:rPr>
              <a:t>ας, α</a:t>
            </a:r>
            <a:r>
              <a:rPr lang="EN-US" err="1">
                <a:latin typeface="Century Gothic"/>
              </a:rPr>
              <a:t>νάγκης</a:t>
            </a:r>
            <a:r>
              <a:rPr lang="EN-US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συνδεσιμότητ</a:t>
            </a:r>
            <a:r>
              <a:rPr lang="EN-US">
                <a:latin typeface="Century Gothic"/>
              </a:rPr>
              <a:t>ας </a:t>
            </a:r>
            <a:r>
              <a:rPr lang="EN-US" err="1">
                <a:latin typeface="Century Gothic"/>
              </a:rPr>
              <a:t>κτλ</a:t>
            </a:r>
            <a:r>
              <a:rPr lang="EN-US">
                <a:latin typeface="Century Gothic"/>
              </a:rPr>
              <a:t>π.</a:t>
            </a:r>
          </a:p>
          <a:p>
            <a:pPr marL="0" indent="0">
              <a:buNone/>
            </a:pPr>
            <a:endParaRPr lang="EN-US">
              <a:latin typeface="Century Gothic"/>
            </a:endParaRPr>
          </a:p>
          <a:p>
            <a:pPr marL="0" indent="0">
              <a:buNone/>
            </a:pPr>
            <a:r>
              <a:rPr lang="EN-US" err="1">
                <a:latin typeface="Century Gothic"/>
              </a:rPr>
              <a:t>Γι</a:t>
            </a:r>
            <a:r>
              <a:rPr lang="EN-US">
                <a:latin typeface="Century Gothic"/>
              </a:rPr>
              <a:t>α πα</a:t>
            </a:r>
            <a:r>
              <a:rPr lang="EN-US" err="1">
                <a:latin typeface="Century Gothic"/>
              </a:rPr>
              <a:t>ράδειγμ</a:t>
            </a:r>
            <a:r>
              <a:rPr lang="EN-US">
                <a:latin typeface="Century Gothic"/>
              </a:rPr>
              <a:t>α </a:t>
            </a:r>
            <a:r>
              <a:rPr lang="EN-US" err="1">
                <a:latin typeface="Century Gothic"/>
              </a:rPr>
              <a:t>έν</a:t>
            </a:r>
            <a:r>
              <a:rPr lang="EN-US">
                <a:latin typeface="Century Gothic"/>
              </a:rPr>
              <a:t>ας α</a:t>
            </a:r>
            <a:r>
              <a:rPr lang="EN-US" err="1">
                <a:latin typeface="Century Gothic"/>
              </a:rPr>
              <a:t>ισθητήρ</a:t>
            </a:r>
            <a:r>
              <a:rPr lang="EN-US">
                <a:latin typeface="Century Gothic"/>
              </a:rPr>
              <a:t>ας π</a:t>
            </a:r>
            <a:r>
              <a:rPr lang="EN-US" err="1">
                <a:latin typeface="Century Gothic"/>
              </a:rPr>
              <a:t>ου</a:t>
            </a:r>
            <a:r>
              <a:rPr lang="EN-US">
                <a:latin typeface="Century Gothic"/>
              </a:rPr>
              <a:t> θα π</a:t>
            </a:r>
            <a:r>
              <a:rPr lang="EN-US" err="1">
                <a:latin typeface="Century Gothic"/>
              </a:rPr>
              <a:t>ρέ</a:t>
            </a:r>
            <a:r>
              <a:rPr lang="EN-US">
                <a:latin typeface="Century Gothic"/>
              </a:rPr>
              <a:t>π</a:t>
            </a:r>
            <a:r>
              <a:rPr lang="EN-US" err="1">
                <a:latin typeface="Century Gothic"/>
              </a:rPr>
              <a:t>ει</a:t>
            </a:r>
            <a:r>
              <a:rPr lang="EN-US">
                <a:latin typeface="Century Gothic"/>
              </a:rPr>
              <a:t> να </a:t>
            </a:r>
            <a:r>
              <a:rPr lang="EN-US" err="1">
                <a:latin typeface="Century Gothic"/>
              </a:rPr>
              <a:t>είν</a:t>
            </a:r>
            <a:r>
              <a:rPr lang="EN-US">
                <a:latin typeface="Century Gothic"/>
              </a:rPr>
              <a:t>αι </a:t>
            </a:r>
            <a:r>
              <a:rPr lang="EN-US" err="1">
                <a:latin typeface="Century Gothic"/>
              </a:rPr>
              <a:t>φορητός</a:t>
            </a:r>
            <a:r>
              <a:rPr lang="EN-US">
                <a:latin typeface="Century Gothic"/>
              </a:rPr>
              <a:t>, π</a:t>
            </a:r>
            <a:r>
              <a:rPr lang="EN-US" err="1">
                <a:latin typeface="Century Gothic"/>
              </a:rPr>
              <a:t>ρέ</a:t>
            </a:r>
            <a:r>
              <a:rPr lang="EN-US">
                <a:latin typeface="Century Gothic"/>
              </a:rPr>
              <a:t>π</a:t>
            </a:r>
            <a:r>
              <a:rPr lang="EN-US" err="1">
                <a:latin typeface="Century Gothic"/>
              </a:rPr>
              <a:t>ει</a:t>
            </a:r>
            <a:r>
              <a:rPr lang="EN-US">
                <a:latin typeface="Century Gothic"/>
              </a:rPr>
              <a:t> να </a:t>
            </a:r>
            <a:r>
              <a:rPr lang="EN-US" err="1">
                <a:latin typeface="Century Gothic"/>
              </a:rPr>
              <a:t>έχει</a:t>
            </a:r>
            <a:r>
              <a:rPr lang="EN-US">
                <a:latin typeface="Century Gothic"/>
              </a:rPr>
              <a:t> α</a:t>
            </a:r>
            <a:r>
              <a:rPr lang="EN-US" err="1">
                <a:latin typeface="Century Gothic"/>
              </a:rPr>
              <a:t>υτονομί</a:t>
            </a:r>
            <a:r>
              <a:rPr lang="EN-US">
                <a:latin typeface="Century Gothic"/>
              </a:rPr>
              <a:t>α </a:t>
            </a:r>
            <a:r>
              <a:rPr lang="EN-US" err="1">
                <a:latin typeface="Century Gothic"/>
              </a:rPr>
              <a:t>σε</a:t>
            </a:r>
            <a:r>
              <a:rPr lang="EN-US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ενέργει</a:t>
            </a:r>
            <a:r>
              <a:rPr lang="EN-US">
                <a:latin typeface="Century Gothic"/>
              </a:rPr>
              <a:t>α, </a:t>
            </a:r>
            <a:r>
              <a:rPr lang="EN-US" err="1">
                <a:latin typeface="Century Gothic"/>
              </a:rPr>
              <a:t>χώρο</a:t>
            </a:r>
            <a:r>
              <a:rPr lang="EN-US">
                <a:latin typeface="Century Gothic"/>
              </a:rPr>
              <a:t> απ</a:t>
            </a:r>
            <a:r>
              <a:rPr lang="EN-US" err="1">
                <a:latin typeface="Century Gothic"/>
              </a:rPr>
              <a:t>οθήκευσης</a:t>
            </a:r>
            <a:r>
              <a:rPr lang="EN-US">
                <a:latin typeface="Century Gothic"/>
              </a:rPr>
              <a:t> και </a:t>
            </a:r>
            <a:r>
              <a:rPr lang="EN-US" err="1">
                <a:latin typeface="Century Gothic"/>
              </a:rPr>
              <a:t>συνδεσιμότητ</a:t>
            </a:r>
            <a:r>
              <a:rPr lang="EN-US">
                <a:latin typeface="Century Gothic"/>
              </a:rPr>
              <a:t>α. </a:t>
            </a:r>
            <a:r>
              <a:rPr lang="EN-US" err="1">
                <a:latin typeface="Century Gothic"/>
              </a:rPr>
              <a:t>Όλ</a:t>
            </a:r>
            <a:r>
              <a:rPr lang="EN-US">
                <a:latin typeface="Century Gothic"/>
              </a:rPr>
              <a:t>α α</a:t>
            </a:r>
            <a:r>
              <a:rPr lang="EN-US" err="1">
                <a:latin typeface="Century Gothic"/>
              </a:rPr>
              <a:t>υτά</a:t>
            </a:r>
            <a:r>
              <a:rPr lang="EN-US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σημ</a:t>
            </a:r>
            <a:r>
              <a:rPr lang="EN-US">
                <a:latin typeface="Century Gothic"/>
              </a:rPr>
              <a:t>α</a:t>
            </a:r>
            <a:r>
              <a:rPr lang="EN-US" err="1">
                <a:latin typeface="Century Gothic"/>
              </a:rPr>
              <a:t>ίνουν</a:t>
            </a:r>
            <a:r>
              <a:rPr lang="EN-US">
                <a:latin typeface="Century Gothic"/>
              </a:rPr>
              <a:t> επιπ</a:t>
            </a:r>
            <a:r>
              <a:rPr lang="EN-US" err="1">
                <a:latin typeface="Century Gothic"/>
              </a:rPr>
              <a:t>λέον</a:t>
            </a:r>
            <a:r>
              <a:rPr lang="EN-US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μικροελεγκτές</a:t>
            </a:r>
            <a:r>
              <a:rPr lang="EN-US">
                <a:latin typeface="Century Gothic"/>
              </a:rPr>
              <a:t> π</a:t>
            </a:r>
            <a:r>
              <a:rPr lang="EN-US" err="1">
                <a:latin typeface="Century Gothic"/>
              </a:rPr>
              <a:t>ου</a:t>
            </a:r>
            <a:r>
              <a:rPr lang="EN-US">
                <a:latin typeface="Century Gothic"/>
              </a:rPr>
              <a:t> θα </a:t>
            </a:r>
            <a:r>
              <a:rPr lang="EN-US" err="1">
                <a:latin typeface="Century Gothic"/>
              </a:rPr>
              <a:t>συντονίζουν</a:t>
            </a:r>
            <a:r>
              <a:rPr lang="EN-US">
                <a:latin typeface="Century Gothic"/>
              </a:rPr>
              <a:t> α</a:t>
            </a:r>
            <a:r>
              <a:rPr lang="EN-US" err="1">
                <a:latin typeface="Century Gothic"/>
              </a:rPr>
              <a:t>υτές</a:t>
            </a:r>
            <a:r>
              <a:rPr lang="EN-US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τις</a:t>
            </a:r>
            <a:r>
              <a:rPr lang="EN-US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λειτουργίες</a:t>
            </a:r>
            <a:r>
              <a:rPr lang="EN-US">
                <a:latin typeface="Century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9900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Δεδομέν</a:t>
            </a:r>
            <a:r>
              <a:rPr lang="EN-US"/>
              <a:t>α (Data)</a:t>
            </a:r>
            <a:endParaRPr lang="EN-US">
              <a:solidFill>
                <a:srgbClr val="EBEBEB"/>
              </a:solidFill>
              <a:latin typeface="Century Gothic"/>
            </a:endParaRPr>
          </a:p>
        </p:txBody>
      </p:sp>
      <p:sp>
        <p:nvSpPr>
          <p:cNvPr id="5" name="Rectangle 4"/>
          <p:cNvSpPr>
            <a:spLocks noGrp="1"/>
          </p:cNvSpPr>
          <p:nvPr>
            <p:ph idx="1"/>
          </p:nvPr>
        </p:nvSpPr>
        <p:spPr>
          <a:xfrm>
            <a:off x="1103313" y="1768475"/>
            <a:ext cx="8947150" cy="49021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sz="2000" err="1">
                <a:solidFill>
                  <a:srgbClr val="FFFFFF"/>
                </a:solidFill>
                <a:latin typeface="Century Gothic"/>
              </a:rPr>
              <a:t>Έν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α από τα χαρα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κτηριστηκά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του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ΙοΤ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είν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αι η π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ληθώρ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δεδομένων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ου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δημιουργείτ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αι. </a:t>
            </a:r>
            <a:endParaRPr lang="en-US" sz="2000">
              <a:solidFill>
                <a:srgbClr val="FFFFFF"/>
              </a:solidFill>
              <a:latin typeface="Century Gothic"/>
            </a:endParaRPr>
          </a:p>
          <a:p>
            <a:pPr marL="457200" lvl="1" indent="0">
              <a:buNone/>
            </a:pPr>
            <a:r>
              <a:rPr lang="EN-US" sz="2000" err="1">
                <a:solidFill>
                  <a:srgbClr val="FFFFFF"/>
                </a:solidFill>
                <a:latin typeface="Century Gothic"/>
              </a:rPr>
              <a:t>Είν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αι βα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σική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λειτουργί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α η </a:t>
            </a:r>
            <a:r>
              <a:rPr lang="EN-US" sz="2000" b="1" err="1">
                <a:solidFill>
                  <a:srgbClr val="FFFFFF"/>
                </a:solidFill>
                <a:latin typeface="Century Gothic"/>
              </a:rPr>
              <a:t>συλλογή</a:t>
            </a:r>
            <a:r>
              <a:rPr lang="EN-US" sz="2000" b="1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b="1" err="1">
                <a:solidFill>
                  <a:srgbClr val="FFFFFF"/>
                </a:solidFill>
                <a:latin typeface="Century Gothic"/>
              </a:rPr>
              <a:t>δεδομένων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(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μετρήσεων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, κατα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στάσεων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είσοδος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από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το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χρήστη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κτλ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π.) η </a:t>
            </a:r>
            <a:r>
              <a:rPr lang="EN-US" sz="2000" b="1">
                <a:solidFill>
                  <a:srgbClr val="FFFFFF"/>
                </a:solidFill>
                <a:latin typeface="Century Gothic"/>
              </a:rPr>
              <a:t>επ</a:t>
            </a:r>
            <a:r>
              <a:rPr lang="EN-US" sz="2000" b="1" err="1">
                <a:solidFill>
                  <a:srgbClr val="FFFFFF"/>
                </a:solidFill>
                <a:latin typeface="Century Gothic"/>
              </a:rPr>
              <a:t>ιλογή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κά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οιων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από α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υτών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με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α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λγοριθμικές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μεθόδους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και η </a:t>
            </a:r>
            <a:r>
              <a:rPr lang="EN-US" sz="2000" b="1">
                <a:solidFill>
                  <a:srgbClr val="FFFFFF"/>
                </a:solidFill>
                <a:latin typeface="Century Gothic"/>
              </a:rPr>
              <a:t>απ</a:t>
            </a:r>
            <a:r>
              <a:rPr lang="EN-US" sz="2000" b="1" err="1">
                <a:solidFill>
                  <a:srgbClr val="FFFFFF"/>
                </a:solidFill>
                <a:latin typeface="Century Gothic"/>
              </a:rPr>
              <a:t>οστολή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τους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σε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κά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οιο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κέντρο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δι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χείρησης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δεδομένων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η π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ιο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απ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λά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σε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Century Gothic"/>
              </a:rPr>
              <a:t>έν</a:t>
            </a:r>
            <a:r>
              <a:rPr lang="EN-US" sz="2000">
                <a:solidFill>
                  <a:srgbClr val="FFFFFF"/>
                </a:solidFill>
                <a:latin typeface="Century Gothic"/>
              </a:rPr>
              <a:t>α cloud.</a:t>
            </a:r>
          </a:p>
          <a:p>
            <a:pPr marL="457200" lvl="1" indent="0">
              <a:buNone/>
            </a:pPr>
            <a:r>
              <a:rPr lang="EN-US" sz="2000" err="1">
                <a:latin typeface="Century Gothic"/>
              </a:rPr>
              <a:t>Συχνά</a:t>
            </a:r>
            <a:r>
              <a:rPr lang="EN-US" sz="200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γίνετ</a:t>
            </a:r>
            <a:r>
              <a:rPr lang="EN-US" sz="2000">
                <a:latin typeface="Century Gothic"/>
              </a:rPr>
              <a:t>αι και </a:t>
            </a:r>
            <a:r>
              <a:rPr lang="EN-US" sz="2000" err="1">
                <a:latin typeface="Century Gothic"/>
              </a:rPr>
              <a:t>λήψη</a:t>
            </a:r>
            <a:r>
              <a:rPr lang="EN-US" sz="200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δεδομένων</a:t>
            </a:r>
            <a:r>
              <a:rPr lang="EN-US" sz="200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γι</a:t>
            </a:r>
            <a:r>
              <a:rPr lang="EN-US" sz="2000">
                <a:latin typeface="Century Gothic"/>
              </a:rPr>
              <a:t>α </a:t>
            </a:r>
            <a:r>
              <a:rPr lang="EN-US" sz="2000" err="1">
                <a:latin typeface="Century Gothic"/>
              </a:rPr>
              <a:t>λόγους</a:t>
            </a:r>
            <a:r>
              <a:rPr lang="EN-US" sz="200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συνάφει</a:t>
            </a:r>
            <a:r>
              <a:rPr lang="EN-US" sz="2000">
                <a:latin typeface="Century Gothic"/>
              </a:rPr>
              <a:t>ας, </a:t>
            </a:r>
            <a:r>
              <a:rPr lang="EN-US" sz="2000" err="1">
                <a:latin typeface="Century Gothic"/>
              </a:rPr>
              <a:t>διορθώσεων</a:t>
            </a:r>
            <a:r>
              <a:rPr lang="EN-US" sz="2000">
                <a:latin typeface="Century Gothic"/>
              </a:rPr>
              <a:t> επί </a:t>
            </a:r>
            <a:r>
              <a:rPr lang="EN-US" sz="2000" err="1">
                <a:latin typeface="Century Gothic"/>
              </a:rPr>
              <a:t>των</a:t>
            </a:r>
            <a:r>
              <a:rPr lang="EN-US" sz="200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ήδη</a:t>
            </a:r>
            <a:r>
              <a:rPr lang="EN-US" sz="200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συγκεντρωμένων</a:t>
            </a:r>
            <a:r>
              <a:rPr lang="EN-US" sz="2000">
                <a:latin typeface="Century Gothic"/>
              </a:rPr>
              <a:t> </a:t>
            </a:r>
            <a:r>
              <a:rPr lang="EN-US" sz="2000" err="1">
                <a:latin typeface="Century Gothic"/>
              </a:rPr>
              <a:t>δεδομένων</a:t>
            </a:r>
            <a:r>
              <a:rPr lang="EN-US" sz="2000">
                <a:latin typeface="Century Gothic"/>
              </a:rPr>
              <a:t> και </a:t>
            </a:r>
            <a:r>
              <a:rPr lang="EN-US" sz="2000" err="1">
                <a:latin typeface="Century Gothic"/>
              </a:rPr>
              <a:t>γενικότερ</a:t>
            </a:r>
            <a:r>
              <a:rPr lang="EN-US" sz="2000">
                <a:latin typeface="Century Gothic"/>
              </a:rPr>
              <a:t>α </a:t>
            </a:r>
            <a:r>
              <a:rPr lang="EN-US" sz="2000" err="1">
                <a:latin typeface="Century Gothic"/>
              </a:rPr>
              <a:t>μι</a:t>
            </a:r>
            <a:r>
              <a:rPr lang="EN-US" sz="2000">
                <a:latin typeface="Century Gothic"/>
              </a:rPr>
              <a:t>α </a:t>
            </a:r>
            <a:r>
              <a:rPr lang="EN-US" sz="2000" b="1">
                <a:latin typeface="Century Gothic"/>
              </a:rPr>
              <a:t>α</a:t>
            </a:r>
            <a:r>
              <a:rPr lang="EN-US" sz="2000" b="1" err="1">
                <a:latin typeface="Century Gothic"/>
              </a:rPr>
              <a:t>μφίδρομη</a:t>
            </a:r>
            <a:r>
              <a:rPr lang="EN-US" sz="2000" b="1">
                <a:latin typeface="Century Gothic"/>
              </a:rPr>
              <a:t> απ</a:t>
            </a:r>
            <a:r>
              <a:rPr lang="EN-US" sz="2000" b="1" err="1">
                <a:latin typeface="Century Gothic"/>
              </a:rPr>
              <a:t>ικοινωνί</a:t>
            </a:r>
            <a:r>
              <a:rPr lang="EN-US" sz="2000" b="1">
                <a:latin typeface="Century Gothic"/>
              </a:rPr>
              <a:t>α.</a:t>
            </a:r>
            <a:endParaRPr lang="EN-US" sz="2000">
              <a:latin typeface="Century Gothic"/>
            </a:endParaRPr>
          </a:p>
        </p:txBody>
      </p:sp>
      <p:pic>
        <p:nvPicPr>
          <p:cNvPr id="3" name="Picture 2" descr="... -to-Machine (M2M) Communication and the Internet of Things (I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725" y="3848100"/>
            <a:ext cx="2723550" cy="27014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0" y="3200400"/>
            <a:ext cx="3048000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r>
              <a:rPr lang="en-US"/>
              <a:t>Νεκτάριος Δεληγιαννάκης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00400"/>
            <a:ext cx="3048000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r>
              <a:rPr lang="en-US"/>
              <a:t>Νεκτάριος Δεληγιαννάκης</a:t>
            </a:r>
          </a:p>
        </p:txBody>
      </p:sp>
    </p:spTree>
    <p:extLst>
      <p:ext uri="{BB962C8B-B14F-4D97-AF65-F5344CB8AC3E}">
        <p14:creationId xmlns:p14="http://schemas.microsoft.com/office/powerpoint/2010/main" val="3666575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rgbClr val="EBEBEB"/>
                </a:solidFill>
                <a:latin typeface="Century Gothic"/>
              </a:rPr>
              <a:t>Κινητικότητ</a:t>
            </a:r>
            <a:r>
              <a:rPr lang="EN-US">
                <a:solidFill>
                  <a:srgbClr val="EBEBEB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του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3" y="1463548"/>
            <a:ext cx="8947150" cy="47848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Century Gothic"/>
              </a:rPr>
              <a:t>Η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ιδέ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του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internet of things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δεν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λλάζει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εξ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ιτί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ας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της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φορητότητ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ας.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Αντίθετ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μάλιστ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απ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οτελεί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τον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κυριότερο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λόγω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υπα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ρξής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του</a:t>
            </a:r>
            <a:r>
              <a:rPr lang="EN-US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 marL="0" indent="0">
              <a:buNone/>
            </a:pPr>
            <a:endParaRPr lang="EN-US">
              <a:solidFill>
                <a:srgbClr val="FFFFFF"/>
              </a:solidFill>
              <a:latin typeface="Century Gothic"/>
            </a:endParaRP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Century Gothic"/>
              </a:rPr>
              <a:t>Η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κινητικότητ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δεν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απα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σχολεί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τόσο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τους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μηχ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νικούς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λογισμικού</a:t>
            </a:r>
            <a:r>
              <a:rPr lang="EN-US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όσο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τους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μηχ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νικούς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υλικού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και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τους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συντηρητές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των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συστημάτων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δι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χείρησης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δεδομένων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 marL="0" indent="0">
              <a:buNone/>
            </a:pPr>
            <a:endParaRPr lang="EN-US">
              <a:solidFill>
                <a:srgbClr val="FFFFFF"/>
              </a:solidFill>
              <a:latin typeface="Century Gothic"/>
            </a:endParaRPr>
          </a:p>
          <a:p>
            <a:pPr marL="0" indent="0">
              <a:buNone/>
            </a:pPr>
            <a:r>
              <a:rPr lang="EN-US" err="1">
                <a:solidFill>
                  <a:srgbClr val="FFFFFF"/>
                </a:solidFill>
                <a:latin typeface="Century Gothic"/>
              </a:rPr>
              <a:t>Αυτό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είν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αι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λογικό</a:t>
            </a:r>
            <a:r>
              <a:rPr lang="EN-US">
                <a:solidFill>
                  <a:srgbClr val="FFFFFF"/>
                </a:solidFill>
                <a:latin typeface="Century Gothic"/>
              </a:rPr>
              <a:t>, 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φού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κινητικότητ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σημ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ινει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ελευθερί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κινήσεων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όχι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όμως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άντοτε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και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εργονομί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χώρου</a:t>
            </a:r>
            <a:r>
              <a:rPr lang="EN-US">
                <a:solidFill>
                  <a:srgbClr val="FFFFFF"/>
                </a:solidFill>
                <a:latin typeface="Century Gothic"/>
              </a:rPr>
              <a:t>, χα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μηλή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απα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ίτηση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σε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ενέργει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και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ευκολί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σε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λήψη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ή απ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οστολή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δεδομένωνων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 marL="0" indent="0">
              <a:buNone/>
            </a:pPr>
            <a:endParaRPr lang="EN-US">
              <a:solidFill>
                <a:srgbClr val="FFFFFF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114842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rgbClr val="EBEBEB"/>
                </a:solidFill>
                <a:latin typeface="Century Gothic"/>
              </a:rPr>
              <a:t>Κίνηση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στο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ΙοΤ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542925" y="1316275"/>
            <a:ext cx="9507538" cy="4932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</a:rPr>
              <a:t>Όπ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ως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ρο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ανα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φέρ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, η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κινητικότητ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internet of things, αν και απ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οτελεί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συν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αρπα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στικό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στοιχείο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εντούτοις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είν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αι και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δύσκολο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στην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υλο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οίηση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ειδικότερ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εξής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:</a:t>
            </a:r>
          </a:p>
          <a:p>
            <a:pPr lvl="1"/>
            <a:r>
              <a:rPr lang="EN-US" sz="2400" err="1">
                <a:solidFill>
                  <a:srgbClr val="FFFFFF"/>
                </a:solidFill>
                <a:latin typeface="Century Gothic"/>
              </a:rPr>
              <a:t>Ενέργει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</a:p>
          <a:p>
            <a:pPr lvl="1"/>
            <a:r>
              <a:rPr lang="EN-US" sz="2400" err="1">
                <a:solidFill>
                  <a:srgbClr val="FFFFFF"/>
                </a:solidFill>
                <a:latin typeface="Century Gothic"/>
              </a:rPr>
              <a:t>Εγκ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θίδρυση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επ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ικοινωνί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ας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άλλ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ράγμ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ατα (επ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ιλογή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κανα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λιού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θμού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β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άσης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κτλ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π.)</a:t>
            </a:r>
          </a:p>
          <a:p>
            <a:pPr lvl="1"/>
            <a:r>
              <a:rPr lang="EN-US" sz="2400" err="1">
                <a:solidFill>
                  <a:srgbClr val="FFFFFF"/>
                </a:solidFill>
                <a:latin typeface="Century Gothic"/>
              </a:rPr>
              <a:t>Πρωτόκολ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της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νωτέρω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επ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ικοινωνί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ας</a:t>
            </a:r>
          </a:p>
          <a:p>
            <a:pPr lvl="1"/>
            <a:r>
              <a:rPr lang="EN-US" sz="2400" err="1">
                <a:solidFill>
                  <a:srgbClr val="FFFFFF"/>
                </a:solidFill>
                <a:latin typeface="Century Gothic"/>
              </a:rPr>
              <a:t>Ασφάλει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(απ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οφυγή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υπ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οκλο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ών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μέχρι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και κατα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στροφών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)</a:t>
            </a:r>
          </a:p>
          <a:p>
            <a:pPr lvl="1"/>
            <a:endParaRPr lang="EN-US" sz="2400">
              <a:solidFill>
                <a:srgbClr val="FFFFFF"/>
              </a:solidFill>
              <a:latin typeface="Century Gothic"/>
            </a:endParaRPr>
          </a:p>
          <a:p>
            <a:pPr marL="457200" lvl="1" indent="0">
              <a:buNone/>
            </a:pPr>
            <a:r>
              <a:rPr lang="EN-US" sz="2400" err="1">
                <a:solidFill>
                  <a:srgbClr val="FFFFFF"/>
                </a:solidFill>
                <a:latin typeface="Century Gothic"/>
              </a:rPr>
              <a:t>Ας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εξήγήσουμε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λίγο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τα παραπ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άνω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.....</a:t>
            </a:r>
          </a:p>
          <a:p>
            <a:pPr lvl="1"/>
            <a:endParaRPr lang="EN-US" sz="2400">
              <a:solidFill>
                <a:srgbClr val="FFFFFF"/>
              </a:solidFill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rgbClr val="EBEBEB"/>
                </a:solidFill>
                <a:latin typeface="Century Gothic"/>
              </a:rPr>
              <a:t>Κίνηση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στο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ΙοΤ</a:t>
            </a:r>
            <a:br>
              <a:rPr lang="EN-US">
                <a:solidFill>
                  <a:schemeClr val="tx1"/>
                </a:solidFill>
                <a:latin typeface="Century Gothic"/>
              </a:rPr>
            </a:br>
            <a:r>
              <a:rPr lang="EN-US" err="1">
                <a:solidFill>
                  <a:srgbClr val="EBEBEB"/>
                </a:solidFill>
                <a:latin typeface="Century Gothic"/>
              </a:rPr>
              <a:t>Ενέργει</a:t>
            </a:r>
            <a:r>
              <a:rPr lang="EN-US">
                <a:solidFill>
                  <a:srgbClr val="EBEBEB"/>
                </a:solidFill>
                <a:latin typeface="Century Gothic"/>
              </a:rPr>
              <a:t>α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542925" y="1806575"/>
            <a:ext cx="9507538" cy="48443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</a:rPr>
              <a:t>Η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ενέργει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α, και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συγκεκριμέν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η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ηλεκτρική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απ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οτελεί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κινητήριο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δύμ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ΙοΤ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 marL="457200" lvl="1" indent="0">
              <a:buNone/>
            </a:pPr>
            <a:r>
              <a:rPr lang="EN-US" sz="2400" err="1">
                <a:solidFill>
                  <a:srgbClr val="FFFFFF"/>
                </a:solidFill>
                <a:latin typeface="Century Gothic"/>
              </a:rPr>
              <a:t>Όμως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, η απα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ιτούμενη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επ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ικοινωνί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(π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λημμύρ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λήψης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/απ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οστολής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ληροφοριών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) απα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ιτεί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ολύ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ενέργει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α.</a:t>
            </a:r>
          </a:p>
          <a:p>
            <a:pPr marL="457200" lvl="1" indent="0"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</a:rPr>
              <a:t>Επιπ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λέον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η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λειτουργί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των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πρα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γμάτων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υτών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κα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θε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υτών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μπ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ορεί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ήδη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να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λειτουργεί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ορι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κά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τα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υφιστάμεν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επίπ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εδ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ενέργει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ας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τίθεντε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.</a:t>
            </a:r>
            <a:endParaRPr lang="EN-US" sz="2400">
              <a:latin typeface="Century Gothic"/>
            </a:endParaRPr>
          </a:p>
          <a:p>
            <a:pPr marL="457200" lvl="1" indent="0">
              <a:buNone/>
            </a:pPr>
            <a:endParaRPr lang="EN-US" sz="2400">
              <a:solidFill>
                <a:srgbClr val="FFFFFF"/>
              </a:solidFill>
              <a:latin typeface="Century Gothic"/>
            </a:endParaRPr>
          </a:p>
          <a:p>
            <a:pPr marL="457200" lvl="1" indent="0">
              <a:buNone/>
            </a:pPr>
            <a:r>
              <a:rPr lang="EN-US" sz="2400" err="1">
                <a:solidFill>
                  <a:srgbClr val="FFFFFF"/>
                </a:solidFill>
                <a:latin typeface="Century Gothic"/>
              </a:rPr>
              <a:t>Στις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κινητές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επ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ικοινωνίες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υτό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σημ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ίνει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είτε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την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κατα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σκευή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ογκοδών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μπατα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ριών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ή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"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κούρεμ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α"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λειτουργίες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ή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ιδ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νικότερ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οιό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171717"/>
                </a:solidFill>
                <a:latin typeface="Century Gothic"/>
              </a:rPr>
              <a:t>έξυ</a:t>
            </a:r>
            <a:r>
              <a:rPr lang="EN-US" sz="2400">
                <a:solidFill>
                  <a:srgbClr val="171717"/>
                </a:solidFill>
                <a:latin typeface="Century Gothic"/>
              </a:rPr>
              <a:t>π</a:t>
            </a:r>
            <a:r>
              <a:rPr lang="EN-US" sz="2400" err="1">
                <a:solidFill>
                  <a:srgbClr val="171717"/>
                </a:solidFill>
                <a:latin typeface="Century Gothic"/>
              </a:rPr>
              <a:t>νες</a:t>
            </a:r>
            <a:r>
              <a:rPr lang="EN-US" sz="2400">
                <a:solidFill>
                  <a:srgbClr val="171717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λλ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κτικές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 lvl="1"/>
            <a:endParaRPr lang="EN-US" sz="2400">
              <a:solidFill>
                <a:srgbClr val="FFFFFF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0715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rgbClr val="EBEBEB"/>
                </a:solidFill>
                <a:latin typeface="Century Gothic"/>
              </a:rPr>
              <a:t>Κίνηση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στο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ΙοΤ</a:t>
            </a:r>
            <a:br>
              <a:rPr lang="EN-US">
                <a:solidFill>
                  <a:schemeClr val="tx1"/>
                </a:solidFill>
                <a:latin typeface="Century Gothic"/>
              </a:rPr>
            </a:br>
            <a:r>
              <a:rPr lang="EN-US" err="1">
                <a:solidFill>
                  <a:srgbClr val="EBEBEB"/>
                </a:solidFill>
                <a:latin typeface="Century Gothic"/>
              </a:rPr>
              <a:t>Εγκ</a:t>
            </a:r>
            <a:r>
              <a:rPr lang="EN-US">
                <a:solidFill>
                  <a:srgbClr val="EBEBEB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θίδρυση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επ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ικοινωνί</a:t>
            </a:r>
            <a:r>
              <a:rPr lang="EN-US">
                <a:solidFill>
                  <a:srgbClr val="EBEBEB"/>
                </a:solidFill>
                <a:latin typeface="Century Gothic"/>
              </a:rPr>
              <a:t>ας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542925" y="1944688"/>
            <a:ext cx="9507538" cy="47160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sz="2400" err="1">
                <a:solidFill>
                  <a:srgbClr val="FFFFFF"/>
                </a:solidFill>
                <a:latin typeface="Century Gothic"/>
              </a:rPr>
              <a:t>Σκο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ός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ΙοΤ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είν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αι να επ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ικοινωνούν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τα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ράγμ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ατα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μετ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ξύ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τους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 marL="457200" lvl="1" indent="0">
              <a:buNone/>
            </a:pPr>
            <a:r>
              <a:rPr lang="EN-US" sz="2400" err="1">
                <a:solidFill>
                  <a:srgbClr val="FFFFFF"/>
                </a:solidFill>
                <a:latin typeface="Century Gothic"/>
              </a:rPr>
              <a:t>Γι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να επ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ιτευχθεί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υτό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ρέ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να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υλο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οιηθούν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υπ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οδομές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όπ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ως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να:</a:t>
            </a:r>
          </a:p>
          <a:p>
            <a:pPr lvl="1"/>
            <a:r>
              <a:rPr lang="EN-US" sz="2400" err="1">
                <a:solidFill>
                  <a:srgbClr val="FFFFFF"/>
                </a:solidFill>
                <a:latin typeface="Century Gothic"/>
              </a:rPr>
              <a:t>Αν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τυχθούν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κα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τάλληλοι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ομ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και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δέκτες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(hardware)</a:t>
            </a:r>
          </a:p>
          <a:p>
            <a:pPr lvl="1"/>
            <a:r>
              <a:rPr lang="EN-US" sz="2400">
                <a:solidFill>
                  <a:srgbClr val="FFFFFF"/>
                </a:solidFill>
                <a:latin typeface="Century Gothic"/>
              </a:rPr>
              <a:t>Να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σχεδι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στούν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τα κα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νάλι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και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"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ιτητές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"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τους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(π.χ.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κινητά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τηλέφων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α, κα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νάλι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είν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αι ο 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έρ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ας και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τητές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διάφοροι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θμοί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β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άσεις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οπ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οίοι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ανα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μετ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δίδουν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ληροφορί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α,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γνωρίζουν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επιπ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λέον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τις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ιδι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ιτερότητες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κανα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λιού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)</a:t>
            </a:r>
          </a:p>
          <a:p>
            <a:pPr lvl="1"/>
            <a:endParaRPr lang="EN-US" sz="2400">
              <a:solidFill>
                <a:srgbClr val="FFFFFF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53136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rgbClr val="EBEBEB"/>
                </a:solidFill>
                <a:latin typeface="Century Gothic"/>
              </a:rPr>
              <a:t>Κίνηση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στο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ΙοΤ</a:t>
            </a:r>
            <a:br>
              <a:rPr lang="EN-US">
                <a:solidFill>
                  <a:schemeClr val="tx1"/>
                </a:solidFill>
                <a:latin typeface="Century Gothic"/>
              </a:rPr>
            </a:br>
            <a:r>
              <a:rPr lang="EN-US" err="1">
                <a:solidFill>
                  <a:srgbClr val="EBEBEB"/>
                </a:solidFill>
                <a:latin typeface="Century Gothic"/>
              </a:rPr>
              <a:t>Πρωτόκολ</a:t>
            </a:r>
            <a:r>
              <a:rPr lang="EN-US">
                <a:solidFill>
                  <a:srgbClr val="EBEBEB"/>
                </a:solidFill>
                <a:latin typeface="Century Gothic"/>
              </a:rPr>
              <a:t>α επ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ικοινωνί</a:t>
            </a:r>
            <a:r>
              <a:rPr lang="EN-US">
                <a:solidFill>
                  <a:srgbClr val="EBEBEB"/>
                </a:solidFill>
                <a:latin typeface="Century Gothic"/>
              </a:rPr>
              <a:t>ας(1)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542925" y="1905480"/>
            <a:ext cx="9507538" cy="4342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</a:rPr>
              <a:t>Τα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ρωτόκολ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επ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ικοινωνί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ας όπ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ως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τα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γνωρίζουμε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κα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θορίζουν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επα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κρι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β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ώς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ως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θα επ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ικοινωνούν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συσκευές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(υπ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ολογιστές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κινητά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τηλέφων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κτλ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π.)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ιντερνετ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διάφορ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επίπ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εδ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δικτύου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(επίπ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εδο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εφ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ρμογής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δικτύου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φυσικό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επίπ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εδο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κ.α.)</a:t>
            </a:r>
          </a:p>
          <a:p>
            <a:pPr marL="457200" lvl="1" indent="0">
              <a:buNone/>
            </a:pPr>
            <a:endParaRPr lang="EN-US" sz="2400">
              <a:solidFill>
                <a:srgbClr val="FFFFFF"/>
              </a:solidFill>
              <a:latin typeface="Century Gothic"/>
            </a:endParaRPr>
          </a:p>
          <a:p>
            <a:pPr marL="457200" lvl="1" indent="0">
              <a:buNone/>
            </a:pPr>
            <a:r>
              <a:rPr lang="EN-US" sz="2400" err="1">
                <a:solidFill>
                  <a:srgbClr val="FFFFFF"/>
                </a:solidFill>
                <a:latin typeface="Century Gothic"/>
              </a:rPr>
              <a:t>Στο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ΙοΤ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έχουν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χρησιμο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οιηθεί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ιδι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ίτερ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τα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ήδη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γνωστά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ρωτόκολ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α. Επ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ειδή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όμως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τα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ερισσότερ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δημιουργήθηκ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αν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γι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την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επ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ικοινωνί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μετ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ξύ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η/υ και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εξυ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ηρετητή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(server) φα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ίνετ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αι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ότι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δεν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ενδύκνειντ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αι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γι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IoT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 lvl="1"/>
            <a:endParaRPr lang="EN-US" sz="2400">
              <a:solidFill>
                <a:srgbClr val="FFFFFF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089669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rgbClr val="EBEBEB"/>
                </a:solidFill>
                <a:latin typeface="Century Gothic"/>
              </a:rPr>
              <a:t>Κίνηση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στο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ΙοΤ</a:t>
            </a:r>
            <a:br>
              <a:rPr lang="EN-US">
                <a:solidFill>
                  <a:schemeClr val="tx1"/>
                </a:solidFill>
                <a:latin typeface="Century Gothic"/>
              </a:rPr>
            </a:br>
            <a:r>
              <a:rPr lang="EN-US" err="1">
                <a:solidFill>
                  <a:schemeClr val="tx1"/>
                </a:solidFill>
                <a:latin typeface="Century Gothic"/>
              </a:rPr>
              <a:t>Πρωτόκολ</a:t>
            </a:r>
            <a:r>
              <a:rPr lang="EN-US">
                <a:solidFill>
                  <a:srgbClr val="EBEBEB"/>
                </a:solidFill>
                <a:latin typeface="Century Gothic"/>
              </a:rPr>
              <a:t>α επ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ικοινωνί</a:t>
            </a:r>
            <a:r>
              <a:rPr lang="EN-US">
                <a:solidFill>
                  <a:srgbClr val="EBEBEB"/>
                </a:solidFill>
                <a:latin typeface="Century Gothic"/>
              </a:rPr>
              <a:t>ας(2)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542925" y="1856583"/>
            <a:ext cx="9507538" cy="439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sz="2400" err="1">
                <a:solidFill>
                  <a:srgbClr val="FFFFFF"/>
                </a:solidFill>
                <a:latin typeface="Century Gothic"/>
              </a:rPr>
              <a:t>Έτσι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υπ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άρχει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η 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νάγκη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γι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σχεδι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σμό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νέων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ρωτοκολων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 marL="457200" lvl="1" indent="0">
              <a:buNone/>
            </a:pPr>
            <a:r>
              <a:rPr lang="EN-US" sz="2400" err="1">
                <a:solidFill>
                  <a:srgbClr val="FFFFFF"/>
                </a:solidFill>
                <a:latin typeface="Century Gothic"/>
              </a:rPr>
              <a:t>Αυτό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θα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συνεισφέρει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και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παρα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κάτω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:</a:t>
            </a:r>
          </a:p>
          <a:p>
            <a:pPr lvl="1"/>
            <a:r>
              <a:rPr lang="EN-US" sz="2400" err="1">
                <a:solidFill>
                  <a:srgbClr val="FFFFFF"/>
                </a:solidFill>
                <a:latin typeface="Century Gothic"/>
              </a:rPr>
              <a:t>Ανά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τυξη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τέτοιου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ρωτοκολου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να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μην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"σπατα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λά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"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ενέργει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άσκο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μηνύμ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ατα (πχ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άμμεσο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handshake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μετ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ξύ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των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συσκευώ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ή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μετ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ξύ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συσκευής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και cloud-server)</a:t>
            </a:r>
          </a:p>
          <a:p>
            <a:pPr lvl="1"/>
            <a:r>
              <a:rPr lang="EN-US" sz="2400" err="1">
                <a:solidFill>
                  <a:srgbClr val="FFFFFF"/>
                </a:solidFill>
                <a:latin typeface="Century Gothic"/>
              </a:rPr>
              <a:t>Ενίσχυση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της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σφάλει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ας από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την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ήδη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υπ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άρχουσ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εμ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ειρί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(π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είν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αι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μεγάλη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!)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ώστε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να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άψει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να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είν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αι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ευάλωτο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ΙοΤ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. Επιπ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λέον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ίσως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να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γίνει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και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ιδιωτικό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...</a:t>
            </a:r>
          </a:p>
          <a:p>
            <a:pPr lvl="1"/>
            <a:endParaRPr lang="EN-US" sz="2400">
              <a:solidFill>
                <a:srgbClr val="FFFFFF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013983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rgbClr val="EBEBEB"/>
                </a:solidFill>
                <a:latin typeface="Century Gothic"/>
              </a:rPr>
              <a:t>Κίνηση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στο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ΙοΤ</a:t>
            </a:r>
            <a:br>
              <a:rPr lang="EN-US">
                <a:solidFill>
                  <a:schemeClr val="tx1"/>
                </a:solidFill>
                <a:latin typeface="Century Gothic"/>
              </a:rPr>
            </a:br>
            <a:r>
              <a:rPr lang="EN-US" err="1">
                <a:solidFill>
                  <a:srgbClr val="EBEBEB"/>
                </a:solidFill>
                <a:latin typeface="Century Gothic"/>
              </a:rPr>
              <a:t>Ασφάλει</a:t>
            </a:r>
            <a:r>
              <a:rPr lang="EN-US">
                <a:solidFill>
                  <a:srgbClr val="EBEBEB"/>
                </a:solidFill>
                <a:latin typeface="Century Gothic"/>
              </a:rPr>
              <a:t>α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542925" y="1865694"/>
            <a:ext cx="9507538" cy="43827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sz="2400" err="1">
                <a:solidFill>
                  <a:srgbClr val="FFFFFF"/>
                </a:solidFill>
                <a:latin typeface="Century Gothic"/>
              </a:rPr>
              <a:t>Αν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φερθήκ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υτήν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ρωτοκολ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επ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ικοινωνί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ας.</a:t>
            </a:r>
          </a:p>
          <a:p>
            <a:pPr marL="457200" lvl="1" indent="0"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</a:rPr>
              <a:t>Επιπ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λέον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ότ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αν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λ.χ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.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σχεδιάζουμε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έν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"α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υτόνομο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" 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υτοκίνητο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σύνδεση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στο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ΙοΤ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δηλ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δή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υτόμ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οδήγηση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, επ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ικοινωνί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τα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άλλ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οχήμ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ατα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κτλ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ρέ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να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σφ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λίζετ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αι η 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σφάλει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χρήστη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και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του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συστήμ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τος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 marL="457200" lvl="1" indent="0"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</a:rPr>
              <a:t>Από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δυσλειτουργί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μέχρι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μι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"κα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κό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β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ουλη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" επ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ίθεση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συστήμ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ατα, μπ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ορούν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να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στοιχίσουν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ολύ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....</a:t>
            </a:r>
          </a:p>
          <a:p>
            <a:pPr marL="457200" lvl="1" indent="0">
              <a:buNone/>
            </a:pPr>
            <a:endParaRPr lang="EN-US" sz="2400">
              <a:solidFill>
                <a:srgbClr val="FFFFFF"/>
              </a:solidFill>
              <a:latin typeface="Century Gothic"/>
            </a:endParaRPr>
          </a:p>
          <a:p>
            <a:pPr marL="457200" lvl="1" indent="0">
              <a:buNone/>
            </a:pPr>
            <a:r>
              <a:rPr lang="EN-US" sz="2400">
                <a:solidFill>
                  <a:srgbClr val="FFFFFF"/>
                </a:solidFill>
                <a:latin typeface="Century Gothic"/>
              </a:rPr>
              <a:t>(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Αν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δε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μας π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ιστεύετε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Century Gothic"/>
              </a:rPr>
              <a:t>youtube</a:t>
            </a:r>
            <a:r>
              <a:rPr lang="EN-US" sz="2400">
                <a:solidFill>
                  <a:srgbClr val="FFFFFF"/>
                </a:solidFill>
                <a:latin typeface="Century Gothic"/>
              </a:rPr>
              <a:t> : </a:t>
            </a:r>
            <a:r>
              <a:rPr lang="EN-US" sz="2400">
                <a:solidFill>
                  <a:srgbClr val="FFFFFF"/>
                </a:solidFill>
                <a:latin typeface="Century Gothic"/>
                <a:hlinkClick r:id="rId3"/>
              </a:rPr>
              <a:t>Hacking a Car with an Ex-NSA Hacker: CYBERWAR</a:t>
            </a:r>
            <a:endParaRPr lang="EN-US" sz="2400">
              <a:latin typeface="Century Gothic"/>
              <a:hlinkClick r:id="rId3"/>
            </a:endParaRPr>
          </a:p>
          <a:p>
            <a:pPr lvl="1"/>
            <a:endParaRPr lang="EN-US" sz="2400">
              <a:solidFill>
                <a:srgbClr val="FFFFFF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68911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Τελικό</a:t>
            </a:r>
            <a:r>
              <a:rPr lang="EN-US"/>
              <a:t> απ</a:t>
            </a:r>
            <a:r>
              <a:rPr lang="EN-US" err="1"/>
              <a:t>οτέλεσμ</a:t>
            </a:r>
            <a:r>
              <a:rPr lang="EN-US"/>
              <a:t>α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1103313" y="1247548"/>
            <a:ext cx="8947150" cy="50008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/>
              <a:t>Τεράστι</a:t>
            </a:r>
            <a:r>
              <a:rPr lang="EN-US"/>
              <a:t>α π</a:t>
            </a:r>
            <a:r>
              <a:rPr lang="EN-US" err="1"/>
              <a:t>οσά</a:t>
            </a:r>
            <a:r>
              <a:rPr lang="EN-US"/>
              <a:t> α</a:t>
            </a:r>
            <a:r>
              <a:rPr lang="EN-US" err="1"/>
              <a:t>λλά</a:t>
            </a:r>
            <a:r>
              <a:rPr lang="EN-US"/>
              <a:t> και α</a:t>
            </a:r>
            <a:r>
              <a:rPr lang="EN-US" err="1"/>
              <a:t>νθρώ</a:t>
            </a:r>
            <a:r>
              <a:rPr lang="EN-US"/>
              <a:t>π</a:t>
            </a:r>
            <a:r>
              <a:rPr lang="EN-US" err="1"/>
              <a:t>ινο</a:t>
            </a:r>
            <a:r>
              <a:rPr lang="EN-US"/>
              <a:t> </a:t>
            </a:r>
            <a:r>
              <a:rPr lang="EN-US" err="1"/>
              <a:t>δυν</a:t>
            </a:r>
            <a:r>
              <a:rPr lang="EN-US"/>
              <a:t>α</a:t>
            </a:r>
            <a:r>
              <a:rPr lang="EN-US" err="1"/>
              <a:t>μικό</a:t>
            </a:r>
            <a:r>
              <a:rPr lang="EN-US"/>
              <a:t> </a:t>
            </a:r>
            <a:r>
              <a:rPr lang="EN-US" err="1"/>
              <a:t>δουλεύουν</a:t>
            </a:r>
            <a:r>
              <a:rPr lang="EN-US"/>
              <a:t> π</a:t>
            </a:r>
            <a:r>
              <a:rPr lang="EN-US" err="1"/>
              <a:t>υρετωδώς</a:t>
            </a:r>
            <a:r>
              <a:rPr lang="EN-US"/>
              <a:t>, </a:t>
            </a:r>
            <a:r>
              <a:rPr lang="EN-US" err="1"/>
              <a:t>ώστε</a:t>
            </a:r>
            <a:r>
              <a:rPr lang="EN-US"/>
              <a:t> να μπ</a:t>
            </a:r>
            <a:r>
              <a:rPr lang="EN-US" err="1"/>
              <a:t>ορέσουν</a:t>
            </a:r>
            <a:r>
              <a:rPr lang="EN-US"/>
              <a:t> να </a:t>
            </a:r>
            <a:r>
              <a:rPr lang="EN-US" err="1"/>
              <a:t>δημιουργήσουν</a:t>
            </a:r>
            <a:r>
              <a:rPr lang="EN-US"/>
              <a:t> </a:t>
            </a:r>
            <a:r>
              <a:rPr lang="EN-US" err="1"/>
              <a:t>νέες</a:t>
            </a:r>
            <a:r>
              <a:rPr lang="EN-US"/>
              <a:t> </a:t>
            </a:r>
            <a:r>
              <a:rPr lang="EN-US" err="1"/>
              <a:t>μεθόδους</a:t>
            </a:r>
            <a:r>
              <a:rPr lang="EN-US"/>
              <a:t> απ</a:t>
            </a:r>
            <a:r>
              <a:rPr lang="EN-US" err="1"/>
              <a:t>οθήκευσης</a:t>
            </a:r>
            <a:r>
              <a:rPr lang="EN-US"/>
              <a:t>, </a:t>
            </a:r>
            <a:r>
              <a:rPr lang="EN-US" err="1"/>
              <a:t>δι</a:t>
            </a:r>
            <a:r>
              <a:rPr lang="EN-US"/>
              <a:t>α</a:t>
            </a:r>
            <a:r>
              <a:rPr lang="EN-US" err="1"/>
              <a:t>χείρησης</a:t>
            </a:r>
            <a:r>
              <a:rPr lang="EN-US"/>
              <a:t> και </a:t>
            </a:r>
            <a:r>
              <a:rPr lang="EN-US" err="1"/>
              <a:t>δι</a:t>
            </a:r>
            <a:r>
              <a:rPr lang="EN-US"/>
              <a:t>α</a:t>
            </a:r>
            <a:r>
              <a:rPr lang="EN-US" err="1"/>
              <a:t>νομής</a:t>
            </a:r>
            <a:r>
              <a:rPr lang="EN-US"/>
              <a:t> </a:t>
            </a:r>
            <a:r>
              <a:rPr lang="EN-US" err="1"/>
              <a:t>της</a:t>
            </a:r>
            <a:r>
              <a:rPr lang="EN-US"/>
              <a:t> π</a:t>
            </a:r>
            <a:r>
              <a:rPr lang="EN-US" err="1"/>
              <a:t>ληροφορί</a:t>
            </a:r>
            <a:r>
              <a:rPr lang="EN-US"/>
              <a:t>ας. </a:t>
            </a:r>
            <a:r>
              <a:rPr lang="EN-US" err="1"/>
              <a:t>Αυτή</a:t>
            </a:r>
            <a:r>
              <a:rPr lang="EN-US"/>
              <a:t> </a:t>
            </a:r>
            <a:r>
              <a:rPr lang="EN-US" err="1"/>
              <a:t>είν</a:t>
            </a:r>
            <a:r>
              <a:rPr lang="EN-US"/>
              <a:t>αι και η </a:t>
            </a:r>
            <a:r>
              <a:rPr lang="EN-US" err="1"/>
              <a:t>ουσί</a:t>
            </a:r>
            <a:r>
              <a:rPr lang="EN-US"/>
              <a:t>α </a:t>
            </a:r>
            <a:r>
              <a:rPr lang="EN-US" err="1"/>
              <a:t>του</a:t>
            </a:r>
            <a:r>
              <a:rPr lang="EN-US"/>
              <a:t> </a:t>
            </a:r>
            <a:r>
              <a:rPr lang="EN-US" err="1"/>
              <a:t>ΙοΤ</a:t>
            </a:r>
            <a:r>
              <a:rPr lang="EN-US"/>
              <a:t> : η </a:t>
            </a:r>
            <a:r>
              <a:rPr lang="EN-US">
                <a:solidFill>
                  <a:srgbClr val="171717"/>
                </a:solidFill>
              </a:rPr>
              <a:t>επ</a:t>
            </a:r>
            <a:r>
              <a:rPr lang="EN-US" err="1">
                <a:solidFill>
                  <a:srgbClr val="171717"/>
                </a:solidFill>
              </a:rPr>
              <a:t>ικοινωνί</a:t>
            </a:r>
            <a:r>
              <a:rPr lang="EN-US">
                <a:solidFill>
                  <a:srgbClr val="171717"/>
                </a:solidFill>
              </a:rPr>
              <a:t>α </a:t>
            </a:r>
            <a:r>
              <a:rPr lang="EN-US">
                <a:solidFill>
                  <a:srgbClr val="FFFFFF"/>
                </a:solidFill>
              </a:rPr>
              <a:t>και α</a:t>
            </a:r>
            <a:r>
              <a:rPr lang="EN-US" err="1">
                <a:solidFill>
                  <a:srgbClr val="FFFFFF"/>
                </a:solidFill>
              </a:rPr>
              <a:t>νθρώ</a:t>
            </a:r>
            <a:r>
              <a:rPr lang="EN-US">
                <a:solidFill>
                  <a:srgbClr val="FFFFFF"/>
                </a:solidFill>
              </a:rPr>
              <a:t>π</a:t>
            </a:r>
            <a:r>
              <a:rPr lang="EN-US" err="1">
                <a:solidFill>
                  <a:srgbClr val="FFFFFF"/>
                </a:solidFill>
              </a:rPr>
              <a:t>ων</a:t>
            </a:r>
            <a:r>
              <a:rPr lang="EN-US">
                <a:solidFill>
                  <a:srgbClr val="FFFFFF"/>
                </a:solidFill>
              </a:rPr>
              <a:t> και πρα</a:t>
            </a:r>
            <a:r>
              <a:rPr lang="EN-US" err="1">
                <a:solidFill>
                  <a:srgbClr val="FFFFFF"/>
                </a:solidFill>
              </a:rPr>
              <a:t>γμάτων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μετ</a:t>
            </a:r>
            <a:r>
              <a:rPr lang="EN-US">
                <a:solidFill>
                  <a:srgbClr val="FFFFFF"/>
                </a:solidFill>
              </a:rPr>
              <a:t>α</a:t>
            </a:r>
            <a:r>
              <a:rPr lang="EN-US" err="1">
                <a:solidFill>
                  <a:srgbClr val="FFFFFF"/>
                </a:solidFill>
              </a:rPr>
              <a:t>ξύ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τους</a:t>
            </a:r>
            <a:r>
              <a:rPr lang="EN-US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EN-US">
              <a:solidFill>
                <a:srgbClr val="FFFFFF"/>
              </a:solidFill>
              <a:latin typeface="Century Gothic"/>
            </a:endParaRPr>
          </a:p>
          <a:p>
            <a:pPr marL="0" indent="0">
              <a:buNone/>
            </a:pPr>
            <a:r>
              <a:rPr lang="EN-US" err="1"/>
              <a:t>Μερικές</a:t>
            </a:r>
            <a:r>
              <a:rPr lang="EN-US"/>
              <a:t> </a:t>
            </a:r>
            <a:r>
              <a:rPr lang="EN-US" err="1"/>
              <a:t>νέες</a:t>
            </a:r>
            <a:r>
              <a:rPr lang="EN-US"/>
              <a:t> </a:t>
            </a:r>
            <a:r>
              <a:rPr lang="EN-US" err="1"/>
              <a:t>τεχνολογίες</a:t>
            </a:r>
            <a:r>
              <a:rPr lang="EN-US"/>
              <a:t> </a:t>
            </a:r>
            <a:r>
              <a:rPr lang="EN-US" err="1"/>
              <a:t>είν</a:t>
            </a:r>
            <a:r>
              <a:rPr lang="EN-US"/>
              <a:t>αι </a:t>
            </a:r>
            <a:r>
              <a:rPr lang="EN-US" err="1"/>
              <a:t>το</a:t>
            </a:r>
            <a:r>
              <a:rPr lang="EN-US"/>
              <a:t> </a:t>
            </a:r>
            <a:r>
              <a:rPr lang="EN-US">
                <a:solidFill>
                  <a:srgbClr val="4F2F4D"/>
                </a:solidFill>
              </a:rPr>
              <a:t>Hadoop (Apache)</a:t>
            </a:r>
            <a:r>
              <a:rPr lang="EN-US"/>
              <a:t>, </a:t>
            </a:r>
            <a:r>
              <a:rPr lang="EN-US">
                <a:solidFill>
                  <a:srgbClr val="4F2F4D"/>
                </a:solidFill>
              </a:rPr>
              <a:t>cluster computing</a:t>
            </a:r>
            <a:r>
              <a:rPr lang="EN-US"/>
              <a:t> και </a:t>
            </a:r>
            <a:r>
              <a:rPr lang="EN-US">
                <a:solidFill>
                  <a:srgbClr val="4F2F4D"/>
                </a:solidFill>
              </a:rPr>
              <a:t>in-</a:t>
            </a:r>
            <a:r>
              <a:rPr lang="EN-US" err="1">
                <a:solidFill>
                  <a:srgbClr val="4F2F4D"/>
                </a:solidFill>
              </a:rPr>
              <a:t>memmory</a:t>
            </a:r>
            <a:r>
              <a:rPr lang="EN-US"/>
              <a:t> </a:t>
            </a:r>
            <a:r>
              <a:rPr lang="EN-US">
                <a:solidFill>
                  <a:srgbClr val="4F2F4D"/>
                </a:solidFill>
              </a:rPr>
              <a:t>computing</a:t>
            </a:r>
            <a:r>
              <a:rPr lang="EN-US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Γενικά</a:t>
            </a:r>
            <a:r>
              <a:rPr lang="EN-US"/>
              <a:t>, α</a:t>
            </a:r>
            <a:r>
              <a:rPr lang="EN-US" err="1"/>
              <a:t>κόμη</a:t>
            </a:r>
            <a:r>
              <a:rPr lang="EN-US"/>
              <a:t> και αν </a:t>
            </a:r>
            <a:r>
              <a:rPr lang="EN-US" err="1"/>
              <a:t>το</a:t>
            </a:r>
            <a:r>
              <a:rPr lang="EN-US"/>
              <a:t> </a:t>
            </a:r>
            <a:r>
              <a:rPr lang="EN-US" err="1"/>
              <a:t>ΙοΤ</a:t>
            </a:r>
            <a:r>
              <a:rPr lang="EN-US"/>
              <a:t> </a:t>
            </a:r>
            <a:r>
              <a:rPr lang="EN-US" err="1"/>
              <a:t>δεν</a:t>
            </a:r>
            <a:r>
              <a:rPr lang="EN-US"/>
              <a:t> π</a:t>
            </a:r>
            <a:r>
              <a:rPr lang="EN-US" err="1"/>
              <a:t>ετύχει</a:t>
            </a:r>
            <a:r>
              <a:rPr lang="EN-US"/>
              <a:t>, όπ</a:t>
            </a:r>
            <a:r>
              <a:rPr lang="EN-US" err="1"/>
              <a:t>ως</a:t>
            </a:r>
            <a:r>
              <a:rPr lang="EN-US"/>
              <a:t> </a:t>
            </a:r>
            <a:r>
              <a:rPr lang="EN-US" err="1"/>
              <a:t>το</a:t>
            </a:r>
            <a:r>
              <a:rPr lang="EN-US"/>
              <a:t> </a:t>
            </a:r>
            <a:r>
              <a:rPr lang="EN-US" err="1"/>
              <a:t>ονειρευόμ</a:t>
            </a:r>
            <a:r>
              <a:rPr lang="EN-US"/>
              <a:t>α</a:t>
            </a:r>
            <a:r>
              <a:rPr lang="EN-US" err="1"/>
              <a:t>στε</a:t>
            </a:r>
            <a:r>
              <a:rPr lang="EN-US"/>
              <a:t>, τα </a:t>
            </a:r>
            <a:r>
              <a:rPr lang="EN-US" err="1"/>
              <a:t>ερευνητικά</a:t>
            </a:r>
            <a:r>
              <a:rPr lang="EN-US"/>
              <a:t> απ</a:t>
            </a:r>
            <a:r>
              <a:rPr lang="EN-US" err="1"/>
              <a:t>οτελέσμ</a:t>
            </a:r>
            <a:r>
              <a:rPr lang="EN-US"/>
              <a:t>ατα και η απ</a:t>
            </a:r>
            <a:r>
              <a:rPr lang="EN-US" err="1"/>
              <a:t>οκτηθείσ</a:t>
            </a:r>
            <a:r>
              <a:rPr lang="EN-US"/>
              <a:t>α </a:t>
            </a:r>
            <a:r>
              <a:rPr lang="EN-US" err="1"/>
              <a:t>τεχνογνωσί</a:t>
            </a:r>
            <a:r>
              <a:rPr lang="EN-US"/>
              <a:t>α </a:t>
            </a:r>
            <a:r>
              <a:rPr lang="EN-US" err="1"/>
              <a:t>είν</a:t>
            </a:r>
            <a:r>
              <a:rPr lang="EN-US"/>
              <a:t>αι α</a:t>
            </a:r>
            <a:r>
              <a:rPr lang="EN-US" err="1"/>
              <a:t>νεκτίμητη</a:t>
            </a:r>
            <a:r>
              <a:rPr lang="EN-US"/>
              <a:t>.</a:t>
            </a:r>
          </a:p>
          <a:p>
            <a:endParaRPr lang="EN-US"/>
          </a:p>
        </p:txBody>
      </p:sp>
      <p:pic>
        <p:nvPicPr>
          <p:cNvPr id="6" name="Picture 5" descr="Role of Mobility, Big Data and Cloud in Internet of Thin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4974" y="1409700"/>
            <a:ext cx="1905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Τελικό</a:t>
            </a:r>
            <a:r>
              <a:rPr lang="EN-US"/>
              <a:t> απ</a:t>
            </a:r>
            <a:r>
              <a:rPr lang="EN-US" err="1"/>
              <a:t>οτέλεσμ</a:t>
            </a:r>
            <a:r>
              <a:rPr lang="EN-US"/>
              <a:t>α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1103313" y="1247548"/>
            <a:ext cx="8947150" cy="50008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Επιπ</a:t>
            </a:r>
            <a:r>
              <a:rPr lang="EN-US" err="1"/>
              <a:t>λέον</a:t>
            </a:r>
            <a:r>
              <a:rPr lang="EN-US"/>
              <a:t> </a:t>
            </a:r>
            <a:r>
              <a:rPr lang="EN-US" err="1"/>
              <a:t>ετ</a:t>
            </a:r>
            <a:r>
              <a:rPr lang="EN-US"/>
              <a:t>α</a:t>
            </a:r>
            <a:r>
              <a:rPr lang="EN-US" err="1"/>
              <a:t>ιρείες</a:t>
            </a:r>
            <a:r>
              <a:rPr lang="EN-US"/>
              <a:t> και </a:t>
            </a:r>
            <a:r>
              <a:rPr lang="EN-US" err="1"/>
              <a:t>εργ</a:t>
            </a:r>
            <a:r>
              <a:rPr lang="EN-US"/>
              <a:t>α</a:t>
            </a:r>
            <a:r>
              <a:rPr lang="EN-US" err="1"/>
              <a:t>λεί</a:t>
            </a:r>
            <a:r>
              <a:rPr lang="EN-US"/>
              <a:t>α όπ</a:t>
            </a:r>
            <a:r>
              <a:rPr lang="EN-US" err="1"/>
              <a:t>ως</a:t>
            </a:r>
            <a:r>
              <a:rPr lang="EN-US"/>
              <a:t> η Cisco Systems, AT&amp;T, Bosch, Google,  Amazon Web Services, Kinesis, </a:t>
            </a:r>
            <a:r>
              <a:rPr lang="EN-US" err="1"/>
              <a:t>DynamoDB</a:t>
            </a:r>
            <a:r>
              <a:rPr lang="EN-US"/>
              <a:t> και </a:t>
            </a:r>
            <a:r>
              <a:rPr lang="EN-US" err="1"/>
              <a:t>άλλες</a:t>
            </a:r>
            <a:r>
              <a:rPr lang="EN-US"/>
              <a:t> π</a:t>
            </a:r>
            <a:r>
              <a:rPr lang="EN-US" err="1"/>
              <a:t>ολλές</a:t>
            </a:r>
            <a:r>
              <a:rPr lang="EN-US"/>
              <a:t> π</a:t>
            </a:r>
            <a:r>
              <a:rPr lang="EN-US" err="1"/>
              <a:t>ροτείνουν</a:t>
            </a:r>
            <a:r>
              <a:rPr lang="EN-US"/>
              <a:t> </a:t>
            </a:r>
            <a:r>
              <a:rPr lang="EN-US" err="1"/>
              <a:t>λύσεις</a:t>
            </a:r>
            <a:r>
              <a:rPr lang="EN-US"/>
              <a:t> και πα</a:t>
            </a:r>
            <a:r>
              <a:rPr lang="EN-US" err="1"/>
              <a:t>ρουσιάζουν</a:t>
            </a:r>
            <a:r>
              <a:rPr lang="EN-US"/>
              <a:t> </a:t>
            </a:r>
            <a:r>
              <a:rPr lang="EN-US" err="1"/>
              <a:t>συνεχώς</a:t>
            </a:r>
            <a:r>
              <a:rPr lang="EN-US"/>
              <a:t> </a:t>
            </a:r>
            <a:r>
              <a:rPr lang="EN-US" err="1"/>
              <a:t>νέ</a:t>
            </a:r>
            <a:r>
              <a:rPr lang="EN-US"/>
              <a:t>α π</a:t>
            </a:r>
            <a:r>
              <a:rPr lang="EN-US" err="1"/>
              <a:t>ροιόντ</a:t>
            </a:r>
            <a:r>
              <a:rPr lang="EN-US"/>
              <a:t>α.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Τα</a:t>
            </a:r>
            <a:r>
              <a:rPr lang="EN-US" err="1"/>
              <a:t>υτόχρον</a:t>
            </a:r>
            <a:r>
              <a:rPr lang="EN-US"/>
              <a:t>α επ</a:t>
            </a:r>
            <a:r>
              <a:rPr lang="EN-US" err="1"/>
              <a:t>εκτείνετ</a:t>
            </a:r>
            <a:r>
              <a:rPr lang="EN-US"/>
              <a:t>αι </a:t>
            </a:r>
            <a:r>
              <a:rPr lang="EN-US" err="1"/>
              <a:t>με</a:t>
            </a:r>
            <a:r>
              <a:rPr lang="EN-US"/>
              <a:t> </a:t>
            </a:r>
            <a:r>
              <a:rPr lang="EN-US" err="1"/>
              <a:t>εκθετικούς</a:t>
            </a:r>
            <a:r>
              <a:rPr lang="EN-US"/>
              <a:t> </a:t>
            </a:r>
            <a:r>
              <a:rPr lang="EN-US" err="1"/>
              <a:t>ρυθμούς</a:t>
            </a:r>
            <a:r>
              <a:rPr lang="EN-US"/>
              <a:t> η </a:t>
            </a:r>
            <a:r>
              <a:rPr lang="EN-US" err="1"/>
              <a:t>γεωγρ</a:t>
            </a:r>
            <a:r>
              <a:rPr lang="EN-US"/>
              <a:t>α</a:t>
            </a:r>
            <a:r>
              <a:rPr lang="EN-US" err="1"/>
              <a:t>φική</a:t>
            </a:r>
            <a:r>
              <a:rPr lang="EN-US"/>
              <a:t>  </a:t>
            </a:r>
            <a:r>
              <a:rPr lang="EN-US" err="1"/>
              <a:t>έκτ</a:t>
            </a:r>
            <a:r>
              <a:rPr lang="EN-US"/>
              <a:t>α</a:t>
            </a:r>
            <a:r>
              <a:rPr lang="EN-US" err="1"/>
              <a:t>ση</a:t>
            </a:r>
            <a:r>
              <a:rPr lang="EN-US"/>
              <a:t> </a:t>
            </a:r>
            <a:r>
              <a:rPr lang="EN-US" err="1"/>
              <a:t>τών</a:t>
            </a:r>
            <a:r>
              <a:rPr lang="EN-US"/>
              <a:t> data centers. 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4" name="Picture 3" descr="data-ce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161" y="504825"/>
            <a:ext cx="2743200" cy="1543050"/>
          </a:xfrm>
          <a:prstGeom prst="rect">
            <a:avLst/>
          </a:prstGeom>
        </p:spPr>
      </p:pic>
      <p:pic>
        <p:nvPicPr>
          <p:cNvPr id="5" name="Picture 4" descr="Facebook data center engine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668" y="4295775"/>
            <a:ext cx="2743200" cy="1827671"/>
          </a:xfrm>
          <a:prstGeom prst="rect">
            <a:avLst/>
          </a:prstGeom>
        </p:spPr>
      </p:pic>
      <p:pic>
        <p:nvPicPr>
          <p:cNvPr id="7" name="Picture 6" descr="industrial architecture google-data-center-tech-02 - Valor Connection ..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740" y="4076700"/>
            <a:ext cx="2743200" cy="182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09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Τελικό</a:t>
            </a:r>
            <a:r>
              <a:rPr lang="EN-US"/>
              <a:t> απ</a:t>
            </a:r>
            <a:r>
              <a:rPr lang="EN-US" err="1"/>
              <a:t>οτέλεσμ</a:t>
            </a:r>
            <a:r>
              <a:rPr lang="EN-US"/>
              <a:t>α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rgbClr val="EBEBEB"/>
                </a:solidFill>
                <a:latin typeface="Century Gothic"/>
              </a:rPr>
              <a:t>Αβεβα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ιότητ</a:t>
            </a:r>
            <a:r>
              <a:rPr lang="EN-US">
                <a:solidFill>
                  <a:srgbClr val="EBEBEB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γι</a:t>
            </a:r>
            <a:r>
              <a:rPr lang="EN-US">
                <a:solidFill>
                  <a:srgbClr val="EBEBEB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το</a:t>
            </a:r>
            <a:r>
              <a:rPr lang="EN-US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EBEBEB"/>
                </a:solidFill>
                <a:latin typeface="Century Gothic"/>
              </a:rPr>
              <a:t>μέλλον</a:t>
            </a:r>
            <a:r>
              <a:rPr lang="EN-US">
                <a:solidFill>
                  <a:srgbClr val="EBEBEB"/>
                </a:solidFill>
                <a:latin typeface="Century Gothic"/>
              </a:rPr>
              <a:t>....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Πα</a:t>
            </a:r>
            <a:r>
              <a:rPr lang="EN-US" err="1"/>
              <a:t>ρά</a:t>
            </a:r>
            <a:r>
              <a:rPr lang="EN-US"/>
              <a:t> </a:t>
            </a:r>
            <a:r>
              <a:rPr lang="EN-US" err="1"/>
              <a:t>την</a:t>
            </a:r>
            <a:r>
              <a:rPr lang="EN-US"/>
              <a:t> </a:t>
            </a:r>
            <a:r>
              <a:rPr lang="EN-US" err="1"/>
              <a:t>όλη</a:t>
            </a:r>
            <a:r>
              <a:rPr lang="EN-US"/>
              <a:t> </a:t>
            </a:r>
            <a:r>
              <a:rPr lang="EN-US" err="1"/>
              <a:t>εξέλιξη</a:t>
            </a:r>
            <a:r>
              <a:rPr lang="EN-US"/>
              <a:t> </a:t>
            </a:r>
            <a:r>
              <a:rPr lang="EN-US" err="1"/>
              <a:t>του</a:t>
            </a:r>
            <a:r>
              <a:rPr lang="EN-US"/>
              <a:t> </a:t>
            </a:r>
            <a:r>
              <a:rPr lang="EN-US" err="1"/>
              <a:t>ΙοΤ</a:t>
            </a:r>
            <a:r>
              <a:rPr lang="EN-US"/>
              <a:t>, </a:t>
            </a:r>
            <a:r>
              <a:rPr lang="EN-US" err="1"/>
              <a:t>ορισμένοι</a:t>
            </a:r>
            <a:r>
              <a:rPr lang="EN-US"/>
              <a:t> </a:t>
            </a:r>
            <a:r>
              <a:rPr lang="EN-US" err="1"/>
              <a:t>μελετητές</a:t>
            </a:r>
            <a:r>
              <a:rPr lang="EN-US"/>
              <a:t> και επ</a:t>
            </a:r>
            <a:r>
              <a:rPr lang="EN-US" err="1"/>
              <a:t>ιστήμονες</a:t>
            </a:r>
            <a:r>
              <a:rPr lang="EN-US"/>
              <a:t> </a:t>
            </a:r>
            <a:r>
              <a:rPr lang="EN-US" err="1"/>
              <a:t>δεν</a:t>
            </a:r>
            <a:r>
              <a:rPr lang="EN-US"/>
              <a:t> </a:t>
            </a:r>
            <a:r>
              <a:rPr lang="EN-US" err="1"/>
              <a:t>έχουν</a:t>
            </a:r>
            <a:r>
              <a:rPr lang="EN-US"/>
              <a:t> </a:t>
            </a:r>
            <a:r>
              <a:rPr lang="EN-US" err="1"/>
              <a:t>τη</a:t>
            </a:r>
            <a:r>
              <a:rPr lang="EN-US"/>
              <a:t> </a:t>
            </a:r>
            <a:r>
              <a:rPr lang="EN-US" err="1"/>
              <a:t>σιγουριά</a:t>
            </a:r>
            <a:r>
              <a:rPr lang="EN-US"/>
              <a:t> </a:t>
            </a:r>
            <a:r>
              <a:rPr lang="EN-US" err="1"/>
              <a:t>ότι</a:t>
            </a:r>
            <a:r>
              <a:rPr lang="EN-US"/>
              <a:t> </a:t>
            </a:r>
            <a:r>
              <a:rPr lang="EN-US" err="1"/>
              <a:t>το</a:t>
            </a:r>
            <a:r>
              <a:rPr lang="EN-US"/>
              <a:t> internet of things </a:t>
            </a:r>
            <a:r>
              <a:rPr lang="EN-US" err="1"/>
              <a:t>είν</a:t>
            </a:r>
            <a:r>
              <a:rPr lang="EN-US"/>
              <a:t>αι </a:t>
            </a:r>
            <a:r>
              <a:rPr lang="EN-US" err="1"/>
              <a:t>κάτι</a:t>
            </a:r>
            <a:r>
              <a:rPr lang="EN-US"/>
              <a:t> π</a:t>
            </a:r>
            <a:r>
              <a:rPr lang="EN-US" err="1"/>
              <a:t>ου</a:t>
            </a:r>
            <a:r>
              <a:rPr lang="EN-US"/>
              <a:t> θα μπ</a:t>
            </a:r>
            <a:r>
              <a:rPr lang="EN-US" err="1"/>
              <a:t>ορέσει</a:t>
            </a:r>
            <a:r>
              <a:rPr lang="EN-US"/>
              <a:t> να </a:t>
            </a:r>
            <a:r>
              <a:rPr lang="EN-US" err="1"/>
              <a:t>εξελιχθεί</a:t>
            </a:r>
            <a:r>
              <a:rPr lang="EN-US"/>
              <a:t> π</a:t>
            </a:r>
            <a:r>
              <a:rPr lang="EN-US" err="1"/>
              <a:t>ολύ</a:t>
            </a:r>
            <a:r>
              <a:rPr lang="EN-US"/>
              <a:t> π</a:t>
            </a:r>
            <a:r>
              <a:rPr lang="EN-US" err="1"/>
              <a:t>ερισσότερο</a:t>
            </a:r>
            <a:r>
              <a:rPr lang="EN-US"/>
              <a:t>.</a:t>
            </a:r>
          </a:p>
          <a:p>
            <a:pPr marL="0" indent="0">
              <a:buNone/>
            </a:pPr>
            <a:endParaRPr lang="EN-US">
              <a:solidFill>
                <a:srgbClr val="FFFFFF"/>
              </a:solidFill>
              <a:latin typeface="Century Gothic"/>
            </a:endParaRP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Century Gothic"/>
              </a:rPr>
              <a:t>Η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έλλειψη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κατα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ρτισμένου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νθρώ</a:t>
            </a:r>
            <a:r>
              <a:rPr lang="EN-US">
                <a:solidFill>
                  <a:srgbClr val="FFFFFF"/>
                </a:solidFill>
                <a:latin typeface="Century Gothic"/>
              </a:rPr>
              <a:t>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ινου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δυν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μικού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στ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χα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μηλότερ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επίπ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εδ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ιερ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ρχί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ας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σχεδι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σμού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των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συστημάτων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δηλ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δή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στο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φυσικό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επίπ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εδο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(hardware)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σε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σχέση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με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την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ληθώρ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ρογρ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μμ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τιστών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σε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γλώσσες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υψηλού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επιπ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έδου</a:t>
            </a:r>
            <a:r>
              <a:rPr lang="EN-US">
                <a:solidFill>
                  <a:srgbClr val="FFFFFF"/>
                </a:solidFill>
                <a:latin typeface="Century Gothic"/>
              </a:rPr>
              <a:t>, απ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οτελεί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μεγάλο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κίνδυνο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Τελικό</a:t>
            </a:r>
            <a:r>
              <a:rPr lang="EN-US"/>
              <a:t> απ</a:t>
            </a:r>
            <a:r>
              <a:rPr lang="EN-US" err="1"/>
              <a:t>οτέλεσμ</a:t>
            </a:r>
            <a:r>
              <a:rPr lang="EN-US"/>
              <a:t>α</a:t>
            </a:r>
            <a:r>
              <a:rPr lang="EN-US">
                <a:solidFill>
                  <a:schemeClr val="tx1"/>
                </a:solidFill>
              </a:rPr>
              <a:t> 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Αβεβα</a:t>
            </a:r>
            <a:r>
              <a:rPr lang="EN-US" err="1"/>
              <a:t>ιότητ</a:t>
            </a:r>
            <a:r>
              <a:rPr lang="EN-US"/>
              <a:t>α </a:t>
            </a:r>
            <a:r>
              <a:rPr lang="EN-US" err="1"/>
              <a:t>γι</a:t>
            </a:r>
            <a:r>
              <a:rPr lang="EN-US"/>
              <a:t>α </a:t>
            </a:r>
            <a:r>
              <a:rPr lang="EN-US" err="1"/>
              <a:t>το</a:t>
            </a:r>
            <a:r>
              <a:rPr lang="EN-US"/>
              <a:t> </a:t>
            </a:r>
            <a:r>
              <a:rPr lang="EN-US" err="1"/>
              <a:t>μέλλον</a:t>
            </a:r>
            <a:r>
              <a:rPr lang="EN-US"/>
              <a:t>....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Century Gothic"/>
              </a:rPr>
              <a:t>Χαρα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κτηριστικό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πα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ράδειγμ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είν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αι η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συχνή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άγνοι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ενός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ρογρ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μμ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τιστή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γι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το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ως</a:t>
            </a:r>
            <a:r>
              <a:rPr lang="EN-US">
                <a:solidFill>
                  <a:srgbClr val="FFFFFF"/>
                </a:solidFill>
                <a:latin typeface="Century Gothic"/>
              </a:rPr>
              <a:t> "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λειτουργούν</a:t>
            </a:r>
            <a:r>
              <a:rPr lang="EN-US">
                <a:solidFill>
                  <a:srgbClr val="FFFFFF"/>
                </a:solidFill>
                <a:latin typeface="Century Gothic"/>
              </a:rPr>
              <a:t>" κα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τώτερ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 επίπ</a:t>
            </a:r>
            <a:r>
              <a:rPr lang="EN-US" err="1">
                <a:solidFill>
                  <a:srgbClr val="FFFFFF"/>
                </a:solidFill>
                <a:latin typeface="Century Gothic"/>
              </a:rPr>
              <a:t>εδ</a:t>
            </a:r>
            <a:r>
              <a:rPr lang="EN-US">
                <a:solidFill>
                  <a:srgbClr val="FFFFFF"/>
                </a:solidFill>
                <a:latin typeface="Century Gothic"/>
              </a:rPr>
              <a:t>α.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Πα</a:t>
            </a:r>
            <a:r>
              <a:rPr lang="EN-US" err="1"/>
              <a:t>ράδειγμ</a:t>
            </a:r>
            <a:r>
              <a:rPr lang="EN-US"/>
              <a:t>α, σπ</a:t>
            </a:r>
            <a:r>
              <a:rPr lang="EN-US" err="1"/>
              <a:t>άνι</a:t>
            </a:r>
            <a:r>
              <a:rPr lang="EN-US"/>
              <a:t>α </a:t>
            </a:r>
            <a:r>
              <a:rPr lang="EN-US" err="1"/>
              <a:t>είν</a:t>
            </a:r>
            <a:r>
              <a:rPr lang="EN-US"/>
              <a:t>αι απ</a:t>
            </a:r>
            <a:r>
              <a:rPr lang="EN-US" err="1"/>
              <a:t>ολύτως</a:t>
            </a:r>
            <a:r>
              <a:rPr lang="EN-US"/>
              <a:t> </a:t>
            </a:r>
            <a:r>
              <a:rPr lang="EN-US" err="1"/>
              <a:t>ξεκάθ</a:t>
            </a:r>
            <a:r>
              <a:rPr lang="EN-US"/>
              <a:t>α</a:t>
            </a:r>
            <a:r>
              <a:rPr lang="EN-US" err="1"/>
              <a:t>ρο</a:t>
            </a:r>
            <a:r>
              <a:rPr lang="EN-US"/>
              <a:t> </a:t>
            </a:r>
            <a:r>
              <a:rPr lang="EN-US" err="1"/>
              <a:t>γι</a:t>
            </a:r>
            <a:r>
              <a:rPr lang="EN-US"/>
              <a:t>α </a:t>
            </a:r>
            <a:r>
              <a:rPr lang="EN-US" err="1"/>
              <a:t>έν</a:t>
            </a:r>
            <a:r>
              <a:rPr lang="EN-US"/>
              <a:t>αν π</a:t>
            </a:r>
            <a:r>
              <a:rPr lang="EN-US" err="1"/>
              <a:t>ρογρ</a:t>
            </a:r>
            <a:r>
              <a:rPr lang="EN-US"/>
              <a:t>α</a:t>
            </a:r>
            <a:r>
              <a:rPr lang="EN-US" err="1"/>
              <a:t>μμ</a:t>
            </a:r>
            <a:r>
              <a:rPr lang="EN-US"/>
              <a:t>α</a:t>
            </a:r>
            <a:r>
              <a:rPr lang="EN-US" err="1"/>
              <a:t>τιστή</a:t>
            </a:r>
            <a:r>
              <a:rPr lang="EN-US"/>
              <a:t> π</a:t>
            </a:r>
            <a:r>
              <a:rPr lang="EN-US" err="1"/>
              <a:t>ου</a:t>
            </a:r>
            <a:r>
              <a:rPr lang="EN-US"/>
              <a:t> </a:t>
            </a:r>
            <a:r>
              <a:rPr lang="EN-US" err="1"/>
              <a:t>χρησιμο</a:t>
            </a:r>
            <a:r>
              <a:rPr lang="EN-US"/>
              <a:t>π</a:t>
            </a:r>
            <a:r>
              <a:rPr lang="EN-US" err="1"/>
              <a:t>οιεί</a:t>
            </a:r>
            <a:r>
              <a:rPr lang="EN-US"/>
              <a:t> Java, να </a:t>
            </a:r>
            <a:r>
              <a:rPr lang="EN-US" err="1"/>
              <a:t>γνωρίζει</a:t>
            </a:r>
            <a:r>
              <a:rPr lang="EN-US"/>
              <a:t> </a:t>
            </a:r>
            <a:r>
              <a:rPr lang="EN-US" err="1"/>
              <a:t>τις</a:t>
            </a:r>
            <a:r>
              <a:rPr lang="EN-US"/>
              <a:t> βιβ</a:t>
            </a:r>
            <a:r>
              <a:rPr lang="EN-US" err="1"/>
              <a:t>λιοθήκες</a:t>
            </a:r>
            <a:r>
              <a:rPr lang="EN-US"/>
              <a:t> π</a:t>
            </a:r>
            <a:r>
              <a:rPr lang="EN-US" err="1"/>
              <a:t>ου</a:t>
            </a:r>
            <a:r>
              <a:rPr lang="EN-US"/>
              <a:t> </a:t>
            </a:r>
            <a:r>
              <a:rPr lang="EN-US" err="1"/>
              <a:t>χρησιμο</a:t>
            </a:r>
            <a:r>
              <a:rPr lang="EN-US"/>
              <a:t>π</a:t>
            </a:r>
            <a:r>
              <a:rPr lang="EN-US" err="1"/>
              <a:t>οιεί</a:t>
            </a:r>
            <a:r>
              <a:rPr lang="EN-US"/>
              <a:t> η </a:t>
            </a:r>
            <a:r>
              <a:rPr lang="EN-US" err="1"/>
              <a:t>γλώσσ</a:t>
            </a:r>
            <a:r>
              <a:rPr lang="EN-US"/>
              <a:t>α α</a:t>
            </a:r>
            <a:r>
              <a:rPr lang="EN-US" err="1"/>
              <a:t>υτή</a:t>
            </a:r>
            <a:r>
              <a:rPr lang="EN-US"/>
              <a:t> π</a:t>
            </a:r>
            <a:r>
              <a:rPr lang="EN-US" err="1"/>
              <a:t>ου</a:t>
            </a:r>
            <a:r>
              <a:rPr lang="EN-US"/>
              <a:t> </a:t>
            </a:r>
            <a:r>
              <a:rPr lang="EN-US" err="1"/>
              <a:t>είν</a:t>
            </a:r>
            <a:r>
              <a:rPr lang="EN-US"/>
              <a:t>αι </a:t>
            </a:r>
            <a:r>
              <a:rPr lang="EN-US" err="1"/>
              <a:t>γρ</a:t>
            </a:r>
            <a:r>
              <a:rPr lang="EN-US"/>
              <a:t>α</a:t>
            </a:r>
            <a:r>
              <a:rPr lang="EN-US" err="1"/>
              <a:t>μμένες</a:t>
            </a:r>
            <a:r>
              <a:rPr lang="EN-US"/>
              <a:t> </a:t>
            </a:r>
            <a:r>
              <a:rPr lang="EN-US" err="1"/>
              <a:t>στη</a:t>
            </a:r>
            <a:r>
              <a:rPr lang="EN-US"/>
              <a:t> </a:t>
            </a:r>
            <a:r>
              <a:rPr lang="EN-US" err="1"/>
              <a:t>γλώσσ</a:t>
            </a:r>
            <a:r>
              <a:rPr lang="EN-US"/>
              <a:t>α C(ή </a:t>
            </a:r>
            <a:r>
              <a:rPr lang="EN-US" err="1"/>
              <a:t>σε</a:t>
            </a:r>
            <a:r>
              <a:rPr lang="EN-US"/>
              <a:t> </a:t>
            </a:r>
            <a:r>
              <a:rPr lang="EN-US" err="1"/>
              <a:t>κά</a:t>
            </a:r>
            <a:r>
              <a:rPr lang="EN-US"/>
              <a:t>π</a:t>
            </a:r>
            <a:r>
              <a:rPr lang="EN-US" err="1"/>
              <a:t>οι</a:t>
            </a:r>
            <a:r>
              <a:rPr lang="EN-US"/>
              <a:t>α </a:t>
            </a:r>
            <a:r>
              <a:rPr lang="EN-US" err="1"/>
              <a:t>άλλη</a:t>
            </a:r>
            <a:r>
              <a:rPr lang="EN-US"/>
              <a:t> π</a:t>
            </a:r>
            <a:r>
              <a:rPr lang="EN-US" err="1"/>
              <a:t>ιο</a:t>
            </a:r>
            <a:r>
              <a:rPr lang="EN-US"/>
              <a:t> χα</a:t>
            </a:r>
            <a:r>
              <a:rPr lang="EN-US" err="1"/>
              <a:t>μηλού</a:t>
            </a:r>
            <a:r>
              <a:rPr lang="EN-US"/>
              <a:t> επιπ</a:t>
            </a:r>
            <a:r>
              <a:rPr lang="EN-US" err="1"/>
              <a:t>έδου</a:t>
            </a:r>
            <a:r>
              <a:rPr lang="EN-US"/>
              <a:t>).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Αν</a:t>
            </a:r>
            <a:r>
              <a:rPr lang="EN-US"/>
              <a:t> από </a:t>
            </a:r>
            <a:r>
              <a:rPr lang="EN-US" err="1"/>
              <a:t>την</a:t>
            </a:r>
            <a:r>
              <a:rPr lang="EN-US"/>
              <a:t> </a:t>
            </a:r>
            <a:r>
              <a:rPr lang="EN-US" err="1"/>
              <a:t>άλλη</a:t>
            </a:r>
            <a:r>
              <a:rPr lang="EN-US"/>
              <a:t> </a:t>
            </a:r>
            <a:r>
              <a:rPr lang="EN-US" err="1"/>
              <a:t>δεν</a:t>
            </a:r>
            <a:r>
              <a:rPr lang="EN-US"/>
              <a:t> </a:t>
            </a:r>
            <a:r>
              <a:rPr lang="EN-US" err="1"/>
              <a:t>γνωρίζει</a:t>
            </a:r>
            <a:r>
              <a:rPr lang="EN-US"/>
              <a:t> π</a:t>
            </a:r>
            <a:r>
              <a:rPr lang="EN-US" err="1"/>
              <a:t>ως</a:t>
            </a:r>
            <a:r>
              <a:rPr lang="EN-US"/>
              <a:t> π</a:t>
            </a:r>
            <a:r>
              <a:rPr lang="EN-US" err="1"/>
              <a:t>ερί</a:t>
            </a:r>
            <a:r>
              <a:rPr lang="EN-US"/>
              <a:t>π</a:t>
            </a:r>
            <a:r>
              <a:rPr lang="EN-US" err="1"/>
              <a:t>ου</a:t>
            </a:r>
            <a:r>
              <a:rPr lang="EN-US"/>
              <a:t> θα </a:t>
            </a:r>
            <a:r>
              <a:rPr lang="EN-US" err="1"/>
              <a:t>λειτουργήσει</a:t>
            </a:r>
            <a:r>
              <a:rPr lang="EN-US"/>
              <a:t> </a:t>
            </a:r>
            <a:r>
              <a:rPr lang="EN-US" err="1"/>
              <a:t>έν</a:t>
            </a:r>
            <a:r>
              <a:rPr lang="EN-US"/>
              <a:t>ας </a:t>
            </a:r>
            <a:r>
              <a:rPr lang="EN-US" err="1"/>
              <a:t>μικρε</a:t>
            </a:r>
            <a:r>
              <a:rPr lang="EN-US"/>
              <a:t>π</a:t>
            </a:r>
            <a:r>
              <a:rPr lang="EN-US" err="1"/>
              <a:t>εξεργ</a:t>
            </a:r>
            <a:r>
              <a:rPr lang="EN-US"/>
              <a:t>α</a:t>
            </a:r>
            <a:r>
              <a:rPr lang="EN-US" err="1"/>
              <a:t>στής</a:t>
            </a:r>
            <a:r>
              <a:rPr lang="EN-US"/>
              <a:t>, μπ</a:t>
            </a:r>
            <a:r>
              <a:rPr lang="EN-US" err="1"/>
              <a:t>ορεί</a:t>
            </a:r>
            <a:r>
              <a:rPr lang="EN-US"/>
              <a:t> να </a:t>
            </a:r>
            <a:r>
              <a:rPr lang="EN-US" err="1"/>
              <a:t>τον</a:t>
            </a:r>
            <a:r>
              <a:rPr lang="EN-US"/>
              <a:t> υπ</a:t>
            </a:r>
            <a:r>
              <a:rPr lang="EN-US" err="1"/>
              <a:t>ερφορτώση</a:t>
            </a:r>
            <a:r>
              <a:rPr lang="EN-US"/>
              <a:t> </a:t>
            </a:r>
            <a:r>
              <a:rPr lang="EN-US" err="1"/>
              <a:t>με</a:t>
            </a:r>
            <a:r>
              <a:rPr lang="EN-US"/>
              <a:t> </a:t>
            </a:r>
            <a:r>
              <a:rPr lang="EN-US" err="1"/>
              <a:t>δυν</a:t>
            </a:r>
            <a:r>
              <a:rPr lang="EN-US"/>
              <a:t>α</a:t>
            </a:r>
            <a:r>
              <a:rPr lang="EN-US" err="1"/>
              <a:t>τότητες</a:t>
            </a:r>
            <a:r>
              <a:rPr lang="EN-US"/>
              <a:t> π</a:t>
            </a:r>
            <a:r>
              <a:rPr lang="EN-US" err="1"/>
              <a:t>ου</a:t>
            </a:r>
            <a:r>
              <a:rPr lang="EN-US"/>
              <a:t> θα </a:t>
            </a:r>
            <a:r>
              <a:rPr lang="EN-US" err="1"/>
              <a:t>χρει</a:t>
            </a:r>
            <a:r>
              <a:rPr lang="EN-US"/>
              <a:t>α</a:t>
            </a:r>
            <a:r>
              <a:rPr lang="EN-US" err="1"/>
              <a:t>στού</a:t>
            </a:r>
            <a:r>
              <a:rPr lang="EN-US"/>
              <a:t> π</a:t>
            </a:r>
            <a:r>
              <a:rPr lang="EN-US" err="1"/>
              <a:t>ολλούς</a:t>
            </a:r>
            <a:r>
              <a:rPr lang="EN-US"/>
              <a:t> π</a:t>
            </a:r>
            <a:r>
              <a:rPr lang="EN-US" err="1"/>
              <a:t>όρους</a:t>
            </a:r>
            <a:r>
              <a:rPr lang="EN-US"/>
              <a:t>.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0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Τελικό</a:t>
            </a:r>
            <a:r>
              <a:rPr lang="EN-US"/>
              <a:t> απ</a:t>
            </a:r>
            <a:r>
              <a:rPr lang="EN-US" err="1"/>
              <a:t>οτέλεσμ</a:t>
            </a:r>
            <a:r>
              <a:rPr lang="EN-US"/>
              <a:t>α</a:t>
            </a:r>
            <a:r>
              <a:rPr lang="EN-US">
                <a:solidFill>
                  <a:schemeClr val="tx1"/>
                </a:solidFill>
              </a:rPr>
              <a:t> 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Αβεβα</a:t>
            </a:r>
            <a:r>
              <a:rPr lang="EN-US" err="1"/>
              <a:t>ιότητ</a:t>
            </a:r>
            <a:r>
              <a:rPr lang="EN-US"/>
              <a:t>α </a:t>
            </a:r>
            <a:r>
              <a:rPr lang="EN-US" err="1"/>
              <a:t>γι</a:t>
            </a:r>
            <a:r>
              <a:rPr lang="EN-US"/>
              <a:t>α </a:t>
            </a:r>
            <a:r>
              <a:rPr lang="EN-US" err="1"/>
              <a:t>το</a:t>
            </a:r>
            <a:r>
              <a:rPr lang="EN-US"/>
              <a:t> </a:t>
            </a:r>
            <a:r>
              <a:rPr lang="EN-US" err="1"/>
              <a:t>μέλλον</a:t>
            </a:r>
            <a:r>
              <a:rPr lang="EN-US"/>
              <a:t>....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/>
              <a:t>Ιδι</a:t>
            </a:r>
            <a:r>
              <a:rPr lang="EN-US"/>
              <a:t>α</a:t>
            </a:r>
            <a:r>
              <a:rPr lang="EN-US" err="1"/>
              <a:t>ίτερ</a:t>
            </a:r>
            <a:r>
              <a:rPr lang="EN-US"/>
              <a:t>α </a:t>
            </a:r>
            <a:r>
              <a:rPr lang="EN-US" err="1"/>
              <a:t>γι</a:t>
            </a:r>
            <a:r>
              <a:rPr lang="EN-US"/>
              <a:t>α </a:t>
            </a:r>
            <a:r>
              <a:rPr lang="EN-US" err="1"/>
              <a:t>την</a:t>
            </a:r>
            <a:r>
              <a:rPr lang="EN-US"/>
              <a:t> </a:t>
            </a:r>
            <a:r>
              <a:rPr lang="EN-US" err="1"/>
              <a:t>κινητικότητ</a:t>
            </a:r>
            <a:r>
              <a:rPr lang="EN-US"/>
              <a:t>α </a:t>
            </a:r>
            <a:r>
              <a:rPr lang="EN-US" err="1"/>
              <a:t>του</a:t>
            </a:r>
            <a:r>
              <a:rPr lang="EN-US"/>
              <a:t> </a:t>
            </a:r>
            <a:r>
              <a:rPr lang="EN-US" err="1"/>
              <a:t>Δι</a:t>
            </a:r>
            <a:r>
              <a:rPr lang="EN-US"/>
              <a:t>α</a:t>
            </a:r>
            <a:r>
              <a:rPr lang="EN-US" err="1"/>
              <a:t>δικτύου</a:t>
            </a:r>
            <a:r>
              <a:rPr lang="EN-US"/>
              <a:t> </a:t>
            </a:r>
            <a:r>
              <a:rPr lang="EN-US" err="1"/>
              <a:t>των</a:t>
            </a:r>
            <a:r>
              <a:rPr lang="EN-US"/>
              <a:t> </a:t>
            </a:r>
            <a:r>
              <a:rPr lang="EN-US" err="1"/>
              <a:t>Πρ</a:t>
            </a:r>
            <a:r>
              <a:rPr lang="EN-US"/>
              <a:t>α</a:t>
            </a:r>
            <a:r>
              <a:rPr lang="EN-US" err="1"/>
              <a:t>γμάτων</a:t>
            </a:r>
            <a:r>
              <a:rPr lang="EN-US"/>
              <a:t>, επιβ</a:t>
            </a:r>
            <a:r>
              <a:rPr lang="EN-US" err="1"/>
              <a:t>άλετ</a:t>
            </a:r>
            <a:r>
              <a:rPr lang="EN-US"/>
              <a:t>αι ο επανα</a:t>
            </a:r>
            <a:r>
              <a:rPr lang="EN-US" err="1"/>
              <a:t>σχεδι</a:t>
            </a:r>
            <a:r>
              <a:rPr lang="EN-US"/>
              <a:t>α</a:t>
            </a:r>
            <a:r>
              <a:rPr lang="EN-US" err="1"/>
              <a:t>σμός</a:t>
            </a:r>
            <a:r>
              <a:rPr lang="EN-US"/>
              <a:t> </a:t>
            </a:r>
            <a:r>
              <a:rPr lang="EN-US" err="1"/>
              <a:t>μικρο-κυκλωμάτων</a:t>
            </a:r>
            <a:r>
              <a:rPr lang="EN-US"/>
              <a:t>, π</a:t>
            </a:r>
            <a:r>
              <a:rPr lang="EN-US" err="1"/>
              <a:t>ρωτοκόλλων</a:t>
            </a:r>
            <a:r>
              <a:rPr lang="EN-US"/>
              <a:t> επ</a:t>
            </a:r>
            <a:r>
              <a:rPr lang="EN-US" err="1"/>
              <a:t>ικοινωνί</a:t>
            </a:r>
            <a:r>
              <a:rPr lang="EN-US"/>
              <a:t>ας και </a:t>
            </a:r>
            <a:r>
              <a:rPr lang="EN-US" err="1"/>
              <a:t>οτιδή</a:t>
            </a:r>
            <a:r>
              <a:rPr lang="EN-US"/>
              <a:t>π</a:t>
            </a:r>
            <a:r>
              <a:rPr lang="EN-US" err="1"/>
              <a:t>οτε</a:t>
            </a:r>
            <a:r>
              <a:rPr lang="EN-US"/>
              <a:t> </a:t>
            </a:r>
            <a:r>
              <a:rPr lang="EN-US" err="1"/>
              <a:t>ενδεχομένως</a:t>
            </a:r>
            <a:r>
              <a:rPr lang="EN-US"/>
              <a:t> να </a:t>
            </a:r>
            <a:r>
              <a:rPr lang="EN-US" err="1"/>
              <a:t>μην</a:t>
            </a:r>
            <a:r>
              <a:rPr lang="EN-US"/>
              <a:t> </a:t>
            </a:r>
            <a:r>
              <a:rPr lang="EN-US" err="1"/>
              <a:t>χρησιμο</a:t>
            </a:r>
            <a:r>
              <a:rPr lang="EN-US"/>
              <a:t>π</a:t>
            </a:r>
            <a:r>
              <a:rPr lang="EN-US" err="1"/>
              <a:t>οιούν</a:t>
            </a:r>
            <a:r>
              <a:rPr lang="EN-US"/>
              <a:t> β</a:t>
            </a:r>
            <a:r>
              <a:rPr lang="EN-US" err="1"/>
              <a:t>έλτιστ</a:t>
            </a:r>
            <a:r>
              <a:rPr lang="EN-US"/>
              <a:t>α π</a:t>
            </a:r>
            <a:r>
              <a:rPr lang="EN-US" err="1"/>
              <a:t>όρους</a:t>
            </a:r>
            <a:r>
              <a:rPr lang="EN-US"/>
              <a:t> (</a:t>
            </a:r>
            <a:r>
              <a:rPr lang="EN-US" err="1"/>
              <a:t>μνήμη</a:t>
            </a:r>
            <a:r>
              <a:rPr lang="EN-US"/>
              <a:t>, μπατα</a:t>
            </a:r>
            <a:r>
              <a:rPr lang="EN-US" err="1"/>
              <a:t>ρί</a:t>
            </a:r>
            <a:r>
              <a:rPr lang="EN-US"/>
              <a:t>α </a:t>
            </a:r>
            <a:r>
              <a:rPr lang="EN-US" err="1"/>
              <a:t>κτλ</a:t>
            </a:r>
            <a:r>
              <a:rPr lang="EN-US"/>
              <a:t>π.)</a:t>
            </a:r>
            <a:endParaRPr lang="EN-US">
              <a:solidFill>
                <a:srgbClr val="FFFFFF"/>
              </a:solidFill>
              <a:latin typeface="Century Gothic"/>
            </a:endParaRPr>
          </a:p>
          <a:p>
            <a:pPr marL="0" indent="0">
              <a:buNone/>
            </a:pPr>
            <a:r>
              <a:rPr lang="EN-US" err="1"/>
              <a:t>Είν</a:t>
            </a:r>
            <a:r>
              <a:rPr lang="EN-US"/>
              <a:t>αι χαρα</a:t>
            </a:r>
            <a:r>
              <a:rPr lang="EN-US" err="1"/>
              <a:t>κτηριστικό</a:t>
            </a:r>
            <a:r>
              <a:rPr lang="EN-US"/>
              <a:t>, </a:t>
            </a:r>
            <a:r>
              <a:rPr lang="EN-US" err="1"/>
              <a:t>ότι</a:t>
            </a:r>
            <a:r>
              <a:rPr lang="EN-US"/>
              <a:t> τα π</a:t>
            </a:r>
            <a:r>
              <a:rPr lang="EN-US" err="1"/>
              <a:t>ροηγούμεν</a:t>
            </a:r>
            <a:r>
              <a:rPr lang="EN-US"/>
              <a:t>α </a:t>
            </a:r>
            <a:r>
              <a:rPr lang="EN-US" err="1"/>
              <a:t>χρόνι</a:t>
            </a:r>
            <a:r>
              <a:rPr lang="EN-US"/>
              <a:t>α, </a:t>
            </a:r>
            <a:r>
              <a:rPr lang="EN-US" err="1"/>
              <a:t>το</a:t>
            </a:r>
            <a:r>
              <a:rPr lang="EN-US"/>
              <a:t> να αναβα</a:t>
            </a:r>
            <a:r>
              <a:rPr lang="EN-US" err="1"/>
              <a:t>θμίσεις</a:t>
            </a:r>
            <a:r>
              <a:rPr lang="EN-US"/>
              <a:t> </a:t>
            </a:r>
            <a:r>
              <a:rPr lang="EN-US" err="1"/>
              <a:t>το</a:t>
            </a:r>
            <a:r>
              <a:rPr lang="EN-US"/>
              <a:t> </a:t>
            </a:r>
            <a:r>
              <a:rPr lang="EN-US" err="1"/>
              <a:t>λογισμικό</a:t>
            </a:r>
            <a:r>
              <a:rPr lang="EN-US"/>
              <a:t> </a:t>
            </a:r>
            <a:r>
              <a:rPr lang="EN-US" err="1"/>
              <a:t>του</a:t>
            </a:r>
            <a:r>
              <a:rPr lang="EN-US"/>
              <a:t> smart phone </a:t>
            </a:r>
            <a:r>
              <a:rPr lang="EN-US" err="1"/>
              <a:t>σου</a:t>
            </a:r>
            <a:r>
              <a:rPr lang="EN-US"/>
              <a:t> </a:t>
            </a:r>
            <a:r>
              <a:rPr lang="EN-US" err="1"/>
              <a:t>ενδεχομένως</a:t>
            </a:r>
            <a:r>
              <a:rPr lang="EN-US"/>
              <a:t> να </a:t>
            </a:r>
            <a:r>
              <a:rPr lang="EN-US" err="1"/>
              <a:t>το</a:t>
            </a:r>
            <a:r>
              <a:rPr lang="EN-US"/>
              <a:t> κα</a:t>
            </a:r>
            <a:r>
              <a:rPr lang="EN-US" err="1"/>
              <a:t>θιστούσε</a:t>
            </a:r>
            <a:r>
              <a:rPr lang="EN-US"/>
              <a:t> π</a:t>
            </a:r>
            <a:r>
              <a:rPr lang="EN-US" err="1"/>
              <a:t>ολύ</a:t>
            </a:r>
            <a:r>
              <a:rPr lang="EN-US"/>
              <a:t> π</a:t>
            </a:r>
            <a:r>
              <a:rPr lang="EN-US" err="1"/>
              <a:t>ιο</a:t>
            </a:r>
            <a:r>
              <a:rPr lang="EN-US"/>
              <a:t> α</a:t>
            </a:r>
            <a:r>
              <a:rPr lang="EN-US" err="1"/>
              <a:t>ργό</a:t>
            </a:r>
            <a:r>
              <a:rPr lang="EN-US"/>
              <a:t> και </a:t>
            </a:r>
            <a:r>
              <a:rPr lang="EN-US" err="1"/>
              <a:t>με</a:t>
            </a:r>
            <a:r>
              <a:rPr lang="EN-US"/>
              <a:t> </a:t>
            </a:r>
            <a:r>
              <a:rPr lang="EN-US" err="1"/>
              <a:t>λιγότερη</a:t>
            </a:r>
            <a:r>
              <a:rPr lang="EN-US"/>
              <a:t> α</a:t>
            </a:r>
            <a:r>
              <a:rPr lang="EN-US" err="1"/>
              <a:t>ντοχή</a:t>
            </a:r>
            <a:r>
              <a:rPr lang="EN-US"/>
              <a:t> </a:t>
            </a:r>
            <a:r>
              <a:rPr lang="EN-US" err="1"/>
              <a:t>στη</a:t>
            </a:r>
            <a:r>
              <a:rPr lang="EN-US"/>
              <a:t> μπατα</a:t>
            </a:r>
            <a:r>
              <a:rPr lang="EN-US" err="1"/>
              <a:t>ρί</a:t>
            </a:r>
            <a:r>
              <a:rPr lang="EN-US"/>
              <a:t>α. 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Αυτό</a:t>
            </a:r>
            <a:r>
              <a:rPr lang="EN-US"/>
              <a:t> </a:t>
            </a:r>
            <a:r>
              <a:rPr lang="EN-US" err="1"/>
              <a:t>συνέ</a:t>
            </a:r>
            <a:r>
              <a:rPr lang="EN-US"/>
              <a:t>βα</a:t>
            </a:r>
            <a:r>
              <a:rPr lang="EN-US" err="1"/>
              <a:t>ινε</a:t>
            </a:r>
            <a:r>
              <a:rPr lang="EN-US"/>
              <a:t> </a:t>
            </a:r>
            <a:r>
              <a:rPr lang="EN-US" err="1"/>
              <a:t>διότι</a:t>
            </a:r>
            <a:r>
              <a:rPr lang="EN-US"/>
              <a:t> </a:t>
            </a:r>
            <a:r>
              <a:rPr lang="EN-US" err="1"/>
              <a:t>το</a:t>
            </a:r>
            <a:r>
              <a:rPr lang="EN-US"/>
              <a:t> </a:t>
            </a:r>
            <a:r>
              <a:rPr lang="EN-US" err="1"/>
              <a:t>υλικό</a:t>
            </a:r>
            <a:r>
              <a:rPr lang="EN-US"/>
              <a:t>, </a:t>
            </a:r>
            <a:r>
              <a:rPr lang="EN-US" err="1"/>
              <a:t>δεν</a:t>
            </a:r>
            <a:r>
              <a:rPr lang="EN-US"/>
              <a:t> </a:t>
            </a:r>
            <a:r>
              <a:rPr lang="EN-US" err="1"/>
              <a:t>εξυ</a:t>
            </a:r>
            <a:r>
              <a:rPr lang="EN-US"/>
              <a:t>π</a:t>
            </a:r>
            <a:r>
              <a:rPr lang="EN-US" err="1"/>
              <a:t>ηρετούσε</a:t>
            </a:r>
            <a:r>
              <a:rPr lang="EN-US"/>
              <a:t> </a:t>
            </a:r>
            <a:r>
              <a:rPr lang="EN-US" err="1"/>
              <a:t>με</a:t>
            </a:r>
            <a:r>
              <a:rPr lang="EN-US"/>
              <a:t> β</a:t>
            </a:r>
            <a:r>
              <a:rPr lang="EN-US" err="1"/>
              <a:t>έλτιστο</a:t>
            </a:r>
            <a:r>
              <a:rPr lang="EN-US"/>
              <a:t> </a:t>
            </a:r>
            <a:r>
              <a:rPr lang="EN-US" err="1"/>
              <a:t>τρό</a:t>
            </a:r>
            <a:r>
              <a:rPr lang="EN-US"/>
              <a:t>πο </a:t>
            </a:r>
            <a:r>
              <a:rPr lang="EN-US" err="1"/>
              <a:t>τις</a:t>
            </a:r>
            <a:r>
              <a:rPr lang="EN-US"/>
              <a:t> </a:t>
            </a:r>
            <a:r>
              <a:rPr lang="EN-US" err="1"/>
              <a:t>νέες</a:t>
            </a:r>
            <a:r>
              <a:rPr lang="EN-US"/>
              <a:t> απα</a:t>
            </a:r>
            <a:r>
              <a:rPr lang="EN-US" err="1"/>
              <a:t>ιτήσεις</a:t>
            </a:r>
            <a:r>
              <a:rPr lang="EN-US"/>
              <a:t> </a:t>
            </a:r>
            <a:r>
              <a:rPr lang="EN-US" err="1"/>
              <a:t>του</a:t>
            </a:r>
            <a:r>
              <a:rPr lang="EN-US"/>
              <a:t> </a:t>
            </a:r>
            <a:r>
              <a:rPr lang="EN-US" err="1"/>
              <a:t>λογισμικού</a:t>
            </a:r>
            <a:r>
              <a:rPr lang="EN-US"/>
              <a:t>. (α</a:t>
            </a:r>
            <a:r>
              <a:rPr lang="EN-US" err="1"/>
              <a:t>υτό</a:t>
            </a:r>
            <a:r>
              <a:rPr lang="EN-US"/>
              <a:t> βέβαια </a:t>
            </a:r>
            <a:r>
              <a:rPr lang="EN-US" err="1"/>
              <a:t>είχε</a:t>
            </a:r>
            <a:r>
              <a:rPr lang="EN-US"/>
              <a:t> και </a:t>
            </a:r>
            <a:r>
              <a:rPr lang="EN-US" err="1"/>
              <a:t>εμ</a:t>
            </a:r>
            <a:r>
              <a:rPr lang="EN-US"/>
              <a:t>π</a:t>
            </a:r>
            <a:r>
              <a:rPr lang="EN-US" err="1"/>
              <a:t>ορική</a:t>
            </a:r>
            <a:r>
              <a:rPr lang="EN-US"/>
              <a:t> </a:t>
            </a:r>
            <a:r>
              <a:rPr lang="EN-US" err="1"/>
              <a:t>σκο</a:t>
            </a:r>
            <a:r>
              <a:rPr lang="EN-US"/>
              <a:t>π</a:t>
            </a:r>
            <a:r>
              <a:rPr lang="EN-US" err="1"/>
              <a:t>ιμότητ</a:t>
            </a:r>
            <a:r>
              <a:rPr lang="EN-US"/>
              <a:t>α...)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88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Εν</a:t>
            </a:r>
            <a:r>
              <a:rPr lang="EN-US"/>
              <a:t> κατα</a:t>
            </a:r>
            <a:r>
              <a:rPr lang="EN-US" err="1"/>
              <a:t>κλείδι</a:t>
            </a:r>
            <a:r>
              <a:rPr lang="EN-US"/>
              <a:t>....</a:t>
            </a:r>
            <a:endParaRPr lang="EN-US">
              <a:solidFill>
                <a:srgbClr val="EBEBEB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103313" y="1689100"/>
            <a:ext cx="8947150" cy="50992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/>
              <a:t>Το</a:t>
            </a:r>
            <a:r>
              <a:rPr lang="EN-US"/>
              <a:t> </a:t>
            </a:r>
            <a:r>
              <a:rPr lang="EN-US" err="1"/>
              <a:t>ΙοΤ</a:t>
            </a:r>
            <a:r>
              <a:rPr lang="EN-US"/>
              <a:t> ή internet of things ή </a:t>
            </a:r>
            <a:r>
              <a:rPr lang="EN-US" err="1"/>
              <a:t>Διδίκτυο</a:t>
            </a:r>
            <a:r>
              <a:rPr lang="EN-US"/>
              <a:t> </a:t>
            </a:r>
            <a:r>
              <a:rPr lang="EN-US" err="1"/>
              <a:t>των</a:t>
            </a:r>
            <a:r>
              <a:rPr lang="EN-US"/>
              <a:t> </a:t>
            </a:r>
            <a:r>
              <a:rPr lang="EN-US" err="1"/>
              <a:t>Πρ</a:t>
            </a:r>
            <a:r>
              <a:rPr lang="EN-US"/>
              <a:t>α</a:t>
            </a:r>
            <a:r>
              <a:rPr lang="EN-US" err="1"/>
              <a:t>γμάτων</a:t>
            </a:r>
            <a:r>
              <a:rPr lang="EN-US"/>
              <a:t> απ</a:t>
            </a:r>
            <a:r>
              <a:rPr lang="EN-US" err="1"/>
              <a:t>οτελείτ</a:t>
            </a:r>
            <a:r>
              <a:rPr lang="EN-US"/>
              <a:t>αι από:</a:t>
            </a:r>
          </a:p>
          <a:p>
            <a:r>
              <a:rPr lang="EN-US" err="1"/>
              <a:t>Τη</a:t>
            </a:r>
            <a:r>
              <a:rPr lang="EN-US"/>
              <a:t> </a:t>
            </a:r>
            <a:r>
              <a:rPr lang="EN-US" err="1"/>
              <a:t>λύση</a:t>
            </a:r>
            <a:r>
              <a:rPr lang="EN-US"/>
              <a:t> </a:t>
            </a:r>
            <a:r>
              <a:rPr lang="EN-US" err="1"/>
              <a:t>ενός</a:t>
            </a:r>
            <a:r>
              <a:rPr lang="EN-US"/>
              <a:t> </a:t>
            </a:r>
            <a:r>
              <a:rPr lang="EN-US" err="1"/>
              <a:t>μικρού</a:t>
            </a:r>
            <a:r>
              <a:rPr lang="EN-US"/>
              <a:t> ή </a:t>
            </a:r>
            <a:r>
              <a:rPr lang="EN-US" err="1"/>
              <a:t>μεγάλου</a:t>
            </a:r>
            <a:r>
              <a:rPr lang="EN-US"/>
              <a:t> π</a:t>
            </a:r>
            <a:r>
              <a:rPr lang="EN-US" err="1"/>
              <a:t>ρο</a:t>
            </a:r>
            <a:r>
              <a:rPr lang="EN-US"/>
              <a:t>β</a:t>
            </a:r>
            <a:r>
              <a:rPr lang="EN-US" err="1"/>
              <a:t>λήμ</a:t>
            </a:r>
            <a:r>
              <a:rPr lang="EN-US"/>
              <a:t>α</a:t>
            </a:r>
            <a:r>
              <a:rPr lang="EN-US" err="1"/>
              <a:t>τος</a:t>
            </a:r>
            <a:r>
              <a:rPr lang="EN-US"/>
              <a:t> και</a:t>
            </a:r>
          </a:p>
          <a:p>
            <a:r>
              <a:rPr lang="EN-US" err="1"/>
              <a:t>Τις</a:t>
            </a:r>
            <a:r>
              <a:rPr lang="EN-US"/>
              <a:t> α</a:t>
            </a:r>
            <a:r>
              <a:rPr lang="EN-US" err="1"/>
              <a:t>ντίστοιχες</a:t>
            </a:r>
            <a:r>
              <a:rPr lang="EN-US"/>
              <a:t> </a:t>
            </a:r>
            <a:r>
              <a:rPr lang="EN-US" err="1"/>
              <a:t>συσκευές</a:t>
            </a:r>
            <a:r>
              <a:rPr lang="EN-US"/>
              <a:t> π</a:t>
            </a:r>
            <a:r>
              <a:rPr lang="EN-US" err="1"/>
              <a:t>ου</a:t>
            </a:r>
            <a:r>
              <a:rPr lang="EN-US"/>
              <a:t> </a:t>
            </a:r>
            <a:r>
              <a:rPr lang="EN-US" err="1"/>
              <a:t>χρειάζοντ</a:t>
            </a:r>
            <a:r>
              <a:rPr lang="EN-US"/>
              <a:t>αι </a:t>
            </a:r>
            <a:r>
              <a:rPr lang="EN-US" err="1"/>
              <a:t>γι</a:t>
            </a:r>
            <a:r>
              <a:rPr lang="EN-US"/>
              <a:t>α </a:t>
            </a:r>
            <a:r>
              <a:rPr lang="EN-US" err="1"/>
              <a:t>τη</a:t>
            </a:r>
            <a:r>
              <a:rPr lang="EN-US"/>
              <a:t> </a:t>
            </a:r>
            <a:r>
              <a:rPr lang="EN-US" err="1"/>
              <a:t>λύση</a:t>
            </a:r>
            <a:r>
              <a:rPr lang="EN-US"/>
              <a:t> α</a:t>
            </a:r>
            <a:r>
              <a:rPr lang="EN-US" err="1"/>
              <a:t>υτή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Η α</a:t>
            </a:r>
            <a:r>
              <a:rPr lang="EN-US" err="1"/>
              <a:t>νθρω</a:t>
            </a:r>
            <a:r>
              <a:rPr lang="EN-US"/>
              <a:t>π</a:t>
            </a:r>
            <a:r>
              <a:rPr lang="EN-US" err="1"/>
              <a:t>ότητ</a:t>
            </a:r>
            <a:r>
              <a:rPr lang="EN-US"/>
              <a:t>α </a:t>
            </a:r>
            <a:r>
              <a:rPr lang="EN-US" err="1"/>
              <a:t>ολόκληρη</a:t>
            </a:r>
            <a:r>
              <a:rPr lang="EN-US"/>
              <a:t> π</a:t>
            </a:r>
            <a:r>
              <a:rPr lang="EN-US" err="1"/>
              <a:t>εριμένει</a:t>
            </a:r>
            <a:r>
              <a:rPr lang="EN-US"/>
              <a:t> να </a:t>
            </a:r>
            <a:r>
              <a:rPr lang="EN-US" err="1"/>
              <a:t>εισέλθει</a:t>
            </a:r>
            <a:r>
              <a:rPr lang="EN-US"/>
              <a:t> </a:t>
            </a:r>
            <a:r>
              <a:rPr lang="EN-US" err="1"/>
              <a:t>το</a:t>
            </a:r>
            <a:r>
              <a:rPr lang="EN-US"/>
              <a:t> </a:t>
            </a:r>
            <a:r>
              <a:rPr lang="EN-US" err="1"/>
              <a:t>ΙοΤ</a:t>
            </a:r>
            <a:r>
              <a:rPr lang="EN-US"/>
              <a:t> α</a:t>
            </a:r>
            <a:r>
              <a:rPr lang="EN-US" err="1"/>
              <a:t>κόμη</a:t>
            </a:r>
            <a:r>
              <a:rPr lang="EN-US"/>
              <a:t> π</a:t>
            </a:r>
            <a:r>
              <a:rPr lang="EN-US" err="1"/>
              <a:t>ερισσότερο</a:t>
            </a:r>
            <a:r>
              <a:rPr lang="EN-US"/>
              <a:t> </a:t>
            </a:r>
            <a:r>
              <a:rPr lang="EN-US" err="1"/>
              <a:t>στη</a:t>
            </a:r>
            <a:r>
              <a:rPr lang="EN-US"/>
              <a:t> </a:t>
            </a:r>
            <a:r>
              <a:rPr lang="EN-US" err="1"/>
              <a:t>ζωή</a:t>
            </a:r>
            <a:r>
              <a:rPr lang="EN-US"/>
              <a:t> </a:t>
            </a:r>
            <a:r>
              <a:rPr lang="EN-US" err="1"/>
              <a:t>του</a:t>
            </a:r>
            <a:r>
              <a:rPr lang="EN-US"/>
              <a:t> </a:t>
            </a:r>
            <a:r>
              <a:rPr lang="EN-US" err="1"/>
              <a:t>γι</a:t>
            </a:r>
            <a:r>
              <a:rPr lang="EN-US"/>
              <a:t>α</a:t>
            </a:r>
            <a:r>
              <a:rPr lang="EN-US" err="1"/>
              <a:t>τί</a:t>
            </a:r>
            <a:r>
              <a:rPr lang="EN-US"/>
              <a:t> π</a:t>
            </a:r>
            <a:r>
              <a:rPr lang="EN-US" err="1"/>
              <a:t>ροσφέρει</a:t>
            </a:r>
            <a:r>
              <a:rPr lang="EN-US"/>
              <a:t> </a:t>
            </a:r>
            <a:r>
              <a:rPr lang="EN-US" err="1"/>
              <a:t>κάτι</a:t>
            </a:r>
            <a:r>
              <a:rPr lang="EN-US"/>
              <a:t> π</a:t>
            </a:r>
            <a:r>
              <a:rPr lang="EN-US" err="1"/>
              <a:t>ου</a:t>
            </a:r>
            <a:r>
              <a:rPr lang="EN-US"/>
              <a:t> ο </a:t>
            </a:r>
            <a:r>
              <a:rPr lang="EN-US" err="1"/>
              <a:t>άνρω</a:t>
            </a:r>
            <a:r>
              <a:rPr lang="EN-US"/>
              <a:t>π</a:t>
            </a:r>
            <a:r>
              <a:rPr lang="EN-US" err="1"/>
              <a:t>ος</a:t>
            </a:r>
            <a:r>
              <a:rPr lang="EN-US"/>
              <a:t> </a:t>
            </a:r>
            <a:r>
              <a:rPr lang="EN-US" err="1"/>
              <a:t>θεωρεί</a:t>
            </a:r>
            <a:r>
              <a:rPr lang="EN-US"/>
              <a:t> π</a:t>
            </a:r>
            <a:r>
              <a:rPr lang="EN-US" err="1"/>
              <a:t>ολύ</a:t>
            </a:r>
            <a:r>
              <a:rPr lang="EN-US"/>
              <a:t> </a:t>
            </a:r>
            <a:r>
              <a:rPr lang="EN-US" err="1"/>
              <a:t>σημ</a:t>
            </a:r>
            <a:r>
              <a:rPr lang="EN-US"/>
              <a:t>α</a:t>
            </a:r>
            <a:r>
              <a:rPr lang="EN-US" err="1"/>
              <a:t>ντικό</a:t>
            </a:r>
            <a:r>
              <a:rPr lang="EN-US"/>
              <a:t> : </a:t>
            </a:r>
            <a:r>
              <a:rPr lang="EN-US" err="1"/>
              <a:t>την</a:t>
            </a:r>
            <a:r>
              <a:rPr lang="EN-US"/>
              <a:t> </a:t>
            </a:r>
            <a:r>
              <a:rPr lang="EN-US" err="1"/>
              <a:t>ευκολί</a:t>
            </a:r>
            <a:r>
              <a:rPr lang="EN-US"/>
              <a:t>α </a:t>
            </a:r>
            <a:r>
              <a:rPr lang="EN-US" err="1"/>
              <a:t>στη</a:t>
            </a:r>
            <a:r>
              <a:rPr lang="EN-US"/>
              <a:t> </a:t>
            </a:r>
            <a:r>
              <a:rPr lang="EN-US" err="1"/>
              <a:t>ζωή</a:t>
            </a:r>
            <a:r>
              <a:rPr lang="EN-US"/>
              <a:t> </a:t>
            </a:r>
            <a:r>
              <a:rPr lang="EN-US" err="1"/>
              <a:t>του</a:t>
            </a:r>
            <a:r>
              <a:rPr lang="EN-US"/>
              <a:t>...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Αν</a:t>
            </a:r>
            <a:r>
              <a:rPr lang="EN-US"/>
              <a:t> α</a:t>
            </a:r>
            <a:r>
              <a:rPr lang="EN-US" err="1"/>
              <a:t>υτή</a:t>
            </a:r>
            <a:r>
              <a:rPr lang="EN-US"/>
              <a:t> η </a:t>
            </a:r>
            <a:r>
              <a:rPr lang="EN-US" err="1"/>
              <a:t>ευκολί</a:t>
            </a:r>
            <a:r>
              <a:rPr lang="EN-US"/>
              <a:t>α </a:t>
            </a:r>
            <a:r>
              <a:rPr lang="EN-US" err="1"/>
              <a:t>δεν</a:t>
            </a:r>
            <a:r>
              <a:rPr lang="EN-US"/>
              <a:t> μας κατα</a:t>
            </a:r>
            <a:r>
              <a:rPr lang="EN-US" err="1"/>
              <a:t>στήσει</a:t>
            </a:r>
            <a:r>
              <a:rPr lang="EN-US"/>
              <a:t> π</a:t>
            </a:r>
            <a:r>
              <a:rPr lang="EN-US" err="1"/>
              <a:t>ιο</a:t>
            </a:r>
            <a:r>
              <a:rPr lang="EN-US"/>
              <a:t> α</a:t>
            </a:r>
            <a:r>
              <a:rPr lang="EN-US" err="1"/>
              <a:t>νεύθυνους</a:t>
            </a:r>
            <a:r>
              <a:rPr lang="EN-US"/>
              <a:t>, </a:t>
            </a:r>
            <a:r>
              <a:rPr lang="EN-US" err="1"/>
              <a:t>τότε</a:t>
            </a:r>
            <a:r>
              <a:rPr lang="EN-US"/>
              <a:t> </a:t>
            </a:r>
            <a:r>
              <a:rPr lang="EN-US" err="1"/>
              <a:t>σίγουρ</a:t>
            </a:r>
            <a:r>
              <a:rPr lang="EN-US"/>
              <a:t>α θα μας π</a:t>
            </a:r>
            <a:r>
              <a:rPr lang="EN-US" err="1"/>
              <a:t>ροσφέρει</a:t>
            </a:r>
            <a:r>
              <a:rPr lang="EN-US"/>
              <a:t> και θα μας </a:t>
            </a:r>
            <a:r>
              <a:rPr lang="EN-US" err="1"/>
              <a:t>μάθει</a:t>
            </a:r>
            <a:r>
              <a:rPr lang="EN-US"/>
              <a:t> π</a:t>
            </a:r>
            <a:r>
              <a:rPr lang="EN-US" err="1"/>
              <a:t>άρ</a:t>
            </a:r>
            <a:r>
              <a:rPr lang="EN-US"/>
              <a:t>α π</a:t>
            </a:r>
            <a:r>
              <a:rPr lang="EN-US" err="1"/>
              <a:t>ολλά</a:t>
            </a:r>
            <a:r>
              <a:rPr lang="EN-US"/>
              <a:t>.....</a:t>
            </a:r>
          </a:p>
          <a:p>
            <a:pPr marL="0" indent="0">
              <a:buNone/>
            </a:pPr>
            <a:r>
              <a:rPr lang="EN-US"/>
              <a:t>                                           </a:t>
            </a:r>
          </a:p>
          <a:p>
            <a:pPr marL="0" indent="0">
              <a:buNone/>
            </a:pPr>
            <a:r>
              <a:rPr lang="EN-US"/>
              <a:t>                                            ….και </a:t>
            </a:r>
            <a:r>
              <a:rPr lang="EN-US" err="1"/>
              <a:t>χωρίς</a:t>
            </a:r>
            <a:r>
              <a:rPr lang="EN-US"/>
              <a:t> να </a:t>
            </a:r>
            <a:r>
              <a:rPr lang="EN-US" err="1"/>
              <a:t>χρειάζετ</a:t>
            </a:r>
            <a:r>
              <a:rPr lang="EN-US"/>
              <a:t>αι να </a:t>
            </a:r>
            <a:r>
              <a:rPr lang="EN-US" err="1"/>
              <a:t>είμ</a:t>
            </a:r>
            <a:r>
              <a:rPr lang="EN-US"/>
              <a:t>α</a:t>
            </a:r>
            <a:r>
              <a:rPr lang="EN-US" err="1"/>
              <a:t>στε</a:t>
            </a:r>
            <a:r>
              <a:rPr lang="EN-US"/>
              <a:t> κα</a:t>
            </a:r>
            <a:r>
              <a:rPr lang="EN-US" err="1"/>
              <a:t>θιστοί</a:t>
            </a:r>
            <a:r>
              <a:rPr lang="EN-US"/>
              <a:t>!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427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ctrTitle"/>
          </p:nvPr>
        </p:nvSpPr>
        <p:spPr>
          <a:xfrm>
            <a:off x="1154955" y="714375"/>
            <a:ext cx="8824913" cy="4086240"/>
          </a:xfrm>
        </p:spPr>
        <p:txBody>
          <a:bodyPr/>
          <a:lstStyle/>
          <a:p>
            <a:r>
              <a:rPr lang="EN-US" sz="4800" err="1">
                <a:solidFill>
                  <a:srgbClr val="EBEBEB"/>
                </a:solidFill>
                <a:latin typeface="Century Gothic"/>
              </a:rPr>
              <a:t>IoT</a:t>
            </a:r>
            <a:br>
              <a:rPr lang="EN-US">
                <a:solidFill>
                  <a:schemeClr val="tx1"/>
                </a:solidFill>
                <a:latin typeface="Century Gothic"/>
              </a:rPr>
            </a:br>
            <a:r>
              <a:rPr lang="EN-US" sz="4800">
                <a:solidFill>
                  <a:srgbClr val="EBEBEB"/>
                </a:solidFill>
                <a:latin typeface="Century Gothic"/>
              </a:rPr>
              <a:t>Internet of Things</a:t>
            </a:r>
            <a:br>
              <a:rPr lang="EN-US" sz="4800">
                <a:solidFill>
                  <a:schemeClr val="tx1"/>
                </a:solidFill>
                <a:latin typeface="Century Gothic"/>
              </a:rPr>
            </a:br>
            <a:r>
              <a:rPr lang="EN-US" sz="4800">
                <a:solidFill>
                  <a:srgbClr val="EBEBEB"/>
                </a:solidFill>
                <a:latin typeface="Century Gothic"/>
              </a:rPr>
              <a:t>(</a:t>
            </a:r>
            <a:r>
              <a:rPr lang="EN-US" sz="4800" err="1">
                <a:solidFill>
                  <a:srgbClr val="EBEBEB"/>
                </a:solidFill>
                <a:latin typeface="Century Gothic"/>
              </a:rPr>
              <a:t>Δι</a:t>
            </a:r>
            <a:r>
              <a:rPr lang="EN-US" sz="4800">
                <a:solidFill>
                  <a:srgbClr val="EBEBEB"/>
                </a:solidFill>
                <a:latin typeface="Century Gothic"/>
              </a:rPr>
              <a:t>α</a:t>
            </a:r>
            <a:r>
              <a:rPr lang="EN-US" sz="4800" err="1">
                <a:solidFill>
                  <a:srgbClr val="EBEBEB"/>
                </a:solidFill>
                <a:latin typeface="Century Gothic"/>
              </a:rPr>
              <a:t>δίκτυο</a:t>
            </a:r>
            <a:r>
              <a:rPr lang="EN-US" sz="4800">
                <a:solidFill>
                  <a:srgbClr val="EBEBEB"/>
                </a:solidFill>
                <a:latin typeface="Century Gothic"/>
              </a:rPr>
              <a:t> </a:t>
            </a:r>
            <a:r>
              <a:rPr lang="EN-US" sz="4800" err="1">
                <a:solidFill>
                  <a:srgbClr val="EBEBEB"/>
                </a:solidFill>
                <a:latin typeface="Century Gothic"/>
              </a:rPr>
              <a:t>των</a:t>
            </a:r>
            <a:r>
              <a:rPr lang="EN-US" sz="4800">
                <a:solidFill>
                  <a:srgbClr val="EBEBEB"/>
                </a:solidFill>
                <a:latin typeface="Century Gothic"/>
              </a:rPr>
              <a:t> πρα</a:t>
            </a:r>
            <a:r>
              <a:rPr lang="EN-US" sz="4800" err="1">
                <a:solidFill>
                  <a:srgbClr val="EBEBEB"/>
                </a:solidFill>
                <a:latin typeface="Century Gothic"/>
              </a:rPr>
              <a:t>γμάτων</a:t>
            </a:r>
            <a:r>
              <a:rPr lang="EN-US" sz="4800">
                <a:solidFill>
                  <a:srgbClr val="EBEBEB"/>
                </a:solidFill>
                <a:latin typeface="Century Gothic"/>
              </a:rPr>
              <a:t>)</a:t>
            </a:r>
            <a:br>
              <a:rPr lang="EN-US" sz="4800">
                <a:solidFill>
                  <a:schemeClr val="tx1"/>
                </a:solidFill>
                <a:latin typeface="Century Gothic"/>
              </a:rPr>
            </a:br>
            <a:r>
              <a:rPr lang="EN-US" sz="3200">
                <a:solidFill>
                  <a:schemeClr val="tx1"/>
                </a:solidFill>
                <a:latin typeface="Century Gothic"/>
              </a:rPr>
              <a:t>π</a:t>
            </a:r>
            <a:r>
              <a:rPr lang="EN-US" sz="3200" err="1">
                <a:solidFill>
                  <a:schemeClr val="tx1"/>
                </a:solidFill>
                <a:latin typeface="Century Gothic"/>
              </a:rPr>
              <a:t>άνω</a:t>
            </a:r>
            <a:r>
              <a:rPr lang="EN-US" sz="3200">
                <a:solidFill>
                  <a:schemeClr val="tx1"/>
                </a:solidFill>
                <a:latin typeface="Century Gothic"/>
              </a:rPr>
              <a:t> από </a:t>
            </a:r>
            <a:r>
              <a:rPr lang="EN-US" sz="3200" err="1">
                <a:solidFill>
                  <a:schemeClr val="tx1"/>
                </a:solidFill>
                <a:latin typeface="Century Gothic"/>
              </a:rPr>
              <a:t>δίκτυ</a:t>
            </a:r>
            <a:r>
              <a:rPr lang="EN-US" sz="3200">
                <a:solidFill>
                  <a:schemeClr val="tx1"/>
                </a:solidFill>
                <a:latin typeface="Century Gothic"/>
              </a:rPr>
              <a:t>α </a:t>
            </a:r>
            <a:r>
              <a:rPr lang="EN-US" sz="3200" err="1">
                <a:solidFill>
                  <a:schemeClr val="tx1"/>
                </a:solidFill>
                <a:latin typeface="Century Gothic"/>
              </a:rPr>
              <a:t>κινητών</a:t>
            </a:r>
            <a:r>
              <a:rPr lang="EN-US" sz="3200">
                <a:solidFill>
                  <a:schemeClr val="tx1"/>
                </a:solidFill>
                <a:latin typeface="Century Gothic"/>
              </a:rPr>
              <a:t> επ</a:t>
            </a:r>
            <a:r>
              <a:rPr lang="EN-US" sz="3200" err="1">
                <a:solidFill>
                  <a:schemeClr val="tx1"/>
                </a:solidFill>
                <a:latin typeface="Century Gothic"/>
              </a:rPr>
              <a:t>ικοινωνιών</a:t>
            </a:r>
            <a:r>
              <a:rPr lang="EN-US" sz="3200">
                <a:solidFill>
                  <a:schemeClr val="tx1"/>
                </a:solidFill>
                <a:latin typeface="Century Gothic"/>
              </a:rPr>
              <a:t>.</a:t>
            </a:r>
            <a:endParaRPr lang="en-US" sz="3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1154955" y="4806427"/>
            <a:ext cx="8825658" cy="861420"/>
          </a:xfrm>
        </p:spPr>
        <p:txBody>
          <a:bodyPr>
            <a:normAutofit fontScale="70000" lnSpcReduction="20000"/>
          </a:bodyPr>
          <a:lstStyle/>
          <a:p>
            <a:r>
              <a:rPr lang="EN-US" err="1">
                <a:solidFill>
                  <a:srgbClr val="8AD0D6"/>
                </a:solidFill>
                <a:latin typeface="Century Gothic"/>
              </a:rPr>
              <a:t>Νεκτ</a:t>
            </a:r>
            <a:r>
              <a:rPr lang="EN-US">
                <a:solidFill>
                  <a:srgbClr val="8AD0D6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ριοσ</a:t>
            </a:r>
            <a:r>
              <a:rPr lang="EN-US">
                <a:solidFill>
                  <a:srgbClr val="8AD0D6"/>
                </a:solidFill>
                <a:latin typeface="Century Gothic"/>
              </a:rPr>
              <a:t> 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δεληγι</a:t>
            </a:r>
            <a:r>
              <a:rPr lang="EN-US">
                <a:solidFill>
                  <a:srgbClr val="8AD0D6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νν</a:t>
            </a:r>
            <a:r>
              <a:rPr lang="EN-US">
                <a:solidFill>
                  <a:srgbClr val="8AD0D6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κης</a:t>
            </a:r>
            <a:r>
              <a:rPr lang="EN-US">
                <a:solidFill>
                  <a:srgbClr val="8AD0D6"/>
                </a:solidFill>
                <a:latin typeface="Century Gothic"/>
              </a:rPr>
              <a:t> 1115201200030</a:t>
            </a:r>
          </a:p>
          <a:p>
            <a:r>
              <a:rPr lang="EN-US" err="1">
                <a:solidFill>
                  <a:srgbClr val="8AD0D6"/>
                </a:solidFill>
                <a:latin typeface="Century Gothic"/>
              </a:rPr>
              <a:t>Εθνικο</a:t>
            </a:r>
            <a:r>
              <a:rPr lang="EN-US">
                <a:solidFill>
                  <a:srgbClr val="8AD0D6"/>
                </a:solidFill>
                <a:latin typeface="Century Gothic"/>
              </a:rPr>
              <a:t> και καπ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οδιστρι</a:t>
            </a:r>
            <a:r>
              <a:rPr lang="EN-US">
                <a:solidFill>
                  <a:srgbClr val="8AD0D6"/>
                </a:solidFill>
                <a:latin typeface="Century Gothic"/>
              </a:rPr>
              <a:t>α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κο</a:t>
            </a:r>
            <a:r>
              <a:rPr lang="EN-US">
                <a:solidFill>
                  <a:srgbClr val="8AD0D6"/>
                </a:solidFill>
                <a:latin typeface="Century Gothic"/>
              </a:rPr>
              <a:t> πα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νε</a:t>
            </a:r>
            <a:r>
              <a:rPr lang="EN-US">
                <a:solidFill>
                  <a:srgbClr val="8AD0D6"/>
                </a:solidFill>
                <a:latin typeface="Century Gothic"/>
              </a:rPr>
              <a:t>π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ιστημιο</a:t>
            </a:r>
            <a:r>
              <a:rPr lang="EN-US">
                <a:solidFill>
                  <a:srgbClr val="8AD0D6"/>
                </a:solidFill>
                <a:latin typeface="Century Gothic"/>
              </a:rPr>
              <a:t> α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θηνων</a:t>
            </a:r>
          </a:p>
          <a:p>
            <a:r>
              <a:rPr lang="EN-US" err="1">
                <a:solidFill>
                  <a:srgbClr val="8AD0D6"/>
                </a:solidFill>
                <a:latin typeface="Century Gothic"/>
              </a:rPr>
              <a:t>Κινητες</a:t>
            </a:r>
            <a:r>
              <a:rPr lang="EN-US">
                <a:solidFill>
                  <a:srgbClr val="8AD0D6"/>
                </a:solidFill>
                <a:latin typeface="Century Gothic"/>
              </a:rPr>
              <a:t> και π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ροσω</a:t>
            </a:r>
            <a:r>
              <a:rPr lang="EN-US">
                <a:solidFill>
                  <a:srgbClr val="8AD0D6"/>
                </a:solidFill>
                <a:latin typeface="Century Gothic"/>
              </a:rPr>
              <a:t>π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ικες</a:t>
            </a:r>
            <a:r>
              <a:rPr lang="EN-US">
                <a:solidFill>
                  <a:srgbClr val="8AD0D6"/>
                </a:solidFill>
                <a:latin typeface="Century Gothic"/>
              </a:rPr>
              <a:t> επ</a:t>
            </a:r>
            <a:r>
              <a:rPr lang="EN-US" err="1">
                <a:solidFill>
                  <a:srgbClr val="8AD0D6"/>
                </a:solidFill>
                <a:latin typeface="Century Gothic"/>
              </a:rPr>
              <a:t>ικοινωνιες</a:t>
            </a:r>
          </a:p>
        </p:txBody>
      </p:sp>
    </p:spTree>
    <p:extLst>
      <p:ext uri="{BB962C8B-B14F-4D97-AF65-F5344CB8AC3E}">
        <p14:creationId xmlns:p14="http://schemas.microsoft.com/office/powerpoint/2010/main" val="1410104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24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Ion</vt:lpstr>
      <vt:lpstr>IoT Internet of Things (Διαδίκτυο των πραγμάτων) πάνω από δίκτυα κινητών επικοινωνιών.</vt:lpstr>
      <vt:lpstr>Παρουσίαση του IoT</vt:lpstr>
      <vt:lpstr>Μερικά σημαντικά ιστορικά συμβάντα.....</vt:lpstr>
      <vt:lpstr>Ιστορικές ρήσεις.....</vt:lpstr>
      <vt:lpstr>Ορισμός του Internet of Things</vt:lpstr>
      <vt:lpstr>Πράξη του ορισμού</vt:lpstr>
      <vt:lpstr>Υλοποίηση του IoT</vt:lpstr>
      <vt:lpstr>Λογισμικό (Software)</vt:lpstr>
      <vt:lpstr>Υλικό (Hardware)</vt:lpstr>
      <vt:lpstr>Δεδομένα (Data)</vt:lpstr>
      <vt:lpstr>Κινητικότητα του IoT</vt:lpstr>
      <vt:lpstr>Κίνηση στο ΙοΤ</vt:lpstr>
      <vt:lpstr>Κίνηση στο ΙοΤ Ενέργεια</vt:lpstr>
      <vt:lpstr>Κίνηση στο ΙοΤ Εγκαθίδρυση επικοινωνίας</vt:lpstr>
      <vt:lpstr>Κίνηση στο ΙοΤ Πρωτόκολα επικοινωνίας(1)</vt:lpstr>
      <vt:lpstr>Κίνηση στο ΙοΤ Πρωτόκολα επικοινωνίας(2)</vt:lpstr>
      <vt:lpstr>Κίνηση στο ΙοΤ Ασφάλεια</vt:lpstr>
      <vt:lpstr>Τελικό αποτέλεσμα</vt:lpstr>
      <vt:lpstr>Τελικό αποτέλεσμα</vt:lpstr>
      <vt:lpstr>Τελικό αποτέλεσμα Αβεβαιότητα για το μέλλον....</vt:lpstr>
      <vt:lpstr>Τελικό αποτέλεσμα  Αβεβαιότητα για το μέλλον....</vt:lpstr>
      <vt:lpstr>Τελικό αποτέλεσμα  Αβεβαιότητα για το μέλλον....</vt:lpstr>
      <vt:lpstr>Εν κατακλείδι....</vt:lpstr>
      <vt:lpstr>IoT Internet of Things (Διαδίκτυο των πραγμάτων) πάνω από δίκτυα κινητών επικοινωνιών.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Internet of Things (Διαδίκτυο των πραγμάτων) πάνω από δίκτυα κινητών επικοινωνιών.</dc:title>
  <cp:revision>1</cp:revision>
  <dcterms:modified xsi:type="dcterms:W3CDTF">2017-01-21T11:13:51Z</dcterms:modified>
</cp:coreProperties>
</file>